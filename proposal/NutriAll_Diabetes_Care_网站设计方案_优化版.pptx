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6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png"/><Relationship Id="rId3" Type="http://schemas.openxmlformats.org/officeDocument/2006/relationships/image" Target="../media/image9.png"/><Relationship Id="rId2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8.jpeg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3" Type="http://schemas.openxmlformats.org/officeDocument/2006/relationships/image" Target="../media/image3.png"/><Relationship Id="rId2" Type="http://schemas.openxmlformats.org/officeDocument/2006/relationships/image" Target="../media/image24.jpe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.pn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0"/>
            <a:ext cx="4754880" cy="6858000"/>
          </a:xfrm>
          <a:prstGeom prst="rect">
            <a:avLst/>
          </a:prstGeom>
          <a:solidFill>
            <a:srgbClr val="E4E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566928"/>
            <a:ext cx="1417320" cy="310896"/>
          </a:xfrm>
          <a:prstGeom prst="roundRect">
            <a:avLst/>
          </a:prstGeom>
          <a:solidFill>
            <a:srgbClr val="D2F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635508"/>
            <a:ext cx="119786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23B2A"/>
                </a:solidFill>
                <a:latin typeface="微软雅黑" panose="020B0503020204020204" charset="-122"/>
              </a:rPr>
              <a:t>CLIENT PROPOSAL</a:t>
            </a:r>
            <a:endParaRPr sz="8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033271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8000"/>
              </a:lnSpc>
            </a:pPr>
            <a:r>
              <a:rPr sz="3800" b="0">
                <a:solidFill>
                  <a:srgbClr val="123B2A"/>
                </a:solidFill>
                <a:latin typeface="微软雅黑" panose="020B0503020204020204" charset="-122"/>
              </a:rPr>
              <a:t>NutriAll</a:t>
            </a:r>
            <a:endParaRPr sz="38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88000"/>
              </a:lnSpc>
            </a:pPr>
            <a:r>
              <a:rPr sz="3800" b="0">
                <a:solidFill>
                  <a:srgbClr val="123B2A"/>
                </a:solidFill>
                <a:latin typeface="微软雅黑" panose="020B0503020204020204" charset="-122"/>
              </a:rPr>
              <a:t>Diabetes Care</a:t>
            </a:r>
            <a:endParaRPr sz="38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6656" y="2606040"/>
            <a:ext cx="470916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800" b="1">
                <a:solidFill>
                  <a:srgbClr val="163228"/>
                </a:solidFill>
                <a:latin typeface="微软雅黑" panose="020B0503020204020204" charset="-122"/>
              </a:rPr>
              <a:t>糖尿病营养管理独立站</a:t>
            </a:r>
            <a:endParaRPr sz="1800" b="1">
              <a:solidFill>
                <a:srgbClr val="163228"/>
              </a:solidFill>
              <a:latin typeface="微软雅黑" panose="020B0503020204020204" charset="-122"/>
            </a:endParaRPr>
          </a:p>
          <a:p>
            <a:pPr algn="l">
              <a:lnSpc>
                <a:spcPct val="116000"/>
              </a:lnSpc>
            </a:pPr>
            <a:r>
              <a:rPr sz="1800" b="1">
                <a:solidFill>
                  <a:srgbClr val="163228"/>
                </a:solidFill>
                <a:latin typeface="微软雅黑" panose="020B0503020204020204" charset="-122"/>
              </a:rPr>
              <a:t>网站设计方案</a:t>
            </a:r>
            <a:endParaRPr sz="1800" b="1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3703320"/>
            <a:ext cx="4069080" cy="10789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微软雅黑" panose="020B0503020204020204" charset="-122"/>
              </a:rPr>
              <a:t>以专业营养服务、保险福利核验、</a:t>
            </a:r>
            <a:endParaRPr sz="1280" b="0">
              <a:solidFill>
                <a:srgbClr val="5C695E"/>
              </a:solidFill>
              <a:latin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微软雅黑" panose="020B0503020204020204" charset="-122"/>
              </a:rPr>
              <a:t>公开研究解读和实用食谱为核心，</a:t>
            </a:r>
            <a:endParaRPr sz="1280" b="0">
              <a:solidFill>
                <a:srgbClr val="5C695E"/>
              </a:solidFill>
              <a:latin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微软雅黑" panose="020B0503020204020204" charset="-122"/>
              </a:rPr>
              <a:t>建立一个可信、清晰、可转化的</a:t>
            </a:r>
            <a:endParaRPr sz="1280" b="0">
              <a:solidFill>
                <a:srgbClr val="5C695E"/>
              </a:solidFill>
              <a:latin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80" b="0">
                <a:solidFill>
                  <a:srgbClr val="5C695E"/>
                </a:solidFill>
                <a:latin typeface="微软雅黑" panose="020B0503020204020204" charset="-122"/>
              </a:rPr>
              <a:t>糖尿病护理入口。</a:t>
            </a:r>
            <a:endParaRPr sz="12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61447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2026 · Website Concept Direction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11" name="Picture 10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640080"/>
            <a:ext cx="6483096" cy="403250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285232" y="658368"/>
            <a:ext cx="6263640" cy="3803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41264" y="804672"/>
            <a:ext cx="5760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Homepage Preview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13248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22976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32704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t_19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384" y="1060704"/>
            <a:ext cx="6117336" cy="3291840"/>
          </a:xfrm>
          <a:prstGeom prst="rect">
            <a:avLst/>
          </a:prstGeom>
        </p:spPr>
      </p:pic>
      <p:pic>
        <p:nvPicPr>
          <p:cNvPr id="18" name="Picture 17" descr="phone_shadow_73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952" y="3630168"/>
            <a:ext cx="1554480" cy="259689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012680" y="3611880"/>
            <a:ext cx="1298448" cy="2340864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85832" y="3685032"/>
            <a:ext cx="1152144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12680" y="3337560"/>
            <a:ext cx="1298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5C695E"/>
                </a:solidFill>
                <a:latin typeface="微软雅黑" panose="020B0503020204020204" charset="-122"/>
              </a:rPr>
              <a:t>Mobile</a:t>
            </a:r>
            <a:endParaRPr sz="9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2" name="Picture 21" descr="phone_fit_6495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696" y="3767328"/>
            <a:ext cx="1042415" cy="2029968"/>
          </a:xfrm>
          <a:prstGeom prst="rect">
            <a:avLst/>
          </a:prstGeom>
        </p:spPr>
      </p:pic>
      <p:pic>
        <p:nvPicPr>
          <p:cNvPr id="23" name="Picture 2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4261104"/>
            <a:ext cx="2276856" cy="170992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92240" y="4279392"/>
            <a:ext cx="2057400" cy="1481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42569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Recipes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620255" y="4443983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9983" y="4443983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39712" y="4443983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t_10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681728"/>
            <a:ext cx="1911095" cy="969264"/>
          </a:xfrm>
          <a:prstGeom prst="rect">
            <a:avLst/>
          </a:prstGeom>
        </p:spPr>
      </p:pic>
      <p:pic>
        <p:nvPicPr>
          <p:cNvPr id="30" name="Picture 29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3959352"/>
            <a:ext cx="2212848" cy="185623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394192" y="3977639"/>
            <a:ext cx="1993392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4123944"/>
            <a:ext cx="14904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Booking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522208" y="4142231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31936" y="4142231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741664" y="4142231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t_4415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379976"/>
            <a:ext cx="1847088" cy="11155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01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PROJECT CONTEXT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为什么需要一个糖尿病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独立业务站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将糖尿病业务从 NutriAll/NutriWell 的综合健康服务中拆分出来，需要更聚焦的叙事、更明确的转化路径和更强的信任建立。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539496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50">
                <a:solidFill>
                  <a:srgbClr val="163228"/>
                </a:solidFill>
                <a:latin typeface="微软雅黑" panose="020B0503020204020204" charset="-122"/>
              </a:rPr>
              <a:t>目标用户不是泛健康人群，而是正在处理 A1C、血糖波动、饮食选择、保险福利和长期管理压力的人。</a:t>
            </a:r>
            <a:endParaRPr sz="13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50">
                <a:solidFill>
                  <a:srgbClr val="163228"/>
                </a:solidFill>
                <a:latin typeface="微软雅黑" panose="020B0503020204020204" charset="-122"/>
              </a:rPr>
              <a:t>网站需要从第一屏就明确：这是糖尿病营养管理，不是普通饮食建议。</a:t>
            </a:r>
            <a:endParaRPr sz="13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50">
                <a:solidFill>
                  <a:srgbClr val="163228"/>
                </a:solidFill>
                <a:latin typeface="微软雅黑" panose="020B0503020204020204" charset="-122"/>
              </a:rPr>
              <a:t>内容要兼顾专业感与可理解性：研究、食谱、保险、预约都必须用用户听得懂的话讲清楚。</a:t>
            </a:r>
            <a:endParaRPr sz="13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50">
                <a:solidFill>
                  <a:srgbClr val="163228"/>
                </a:solidFill>
                <a:latin typeface="微软雅黑" panose="020B0503020204020204" charset="-122"/>
              </a:rPr>
              <a:t>视觉上保留 NutriAll 的温度，同时做出更现代、更高级、更像独立品牌的表达。</a:t>
            </a:r>
            <a:endParaRPr sz="135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640080"/>
            <a:ext cx="5340096" cy="3154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658368"/>
            <a:ext cx="5120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2" y="804672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当前首页方向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28816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38544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48272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t_21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1060704"/>
            <a:ext cx="4974336" cy="24140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92240" y="4005072"/>
            <a:ext cx="4901184" cy="141732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315968"/>
            <a:ext cx="12801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2FB8D"/>
                </a:solidFill>
                <a:latin typeface="微软雅黑" panose="020B0503020204020204" charset="-122"/>
              </a:rPr>
              <a:t>核心定位</a:t>
            </a:r>
            <a:endParaRPr sz="10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12280" y="4626864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专业、可信、可访问的糖尿病营养护理入口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02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SITE ARCHITECTURE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网站结构与路由规划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7990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结构以“了解服务 → 建立信任 → 浏览内容 → 核验保险 → 预约咨询”为主线，避免用户在关键转化前迷路。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首页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226771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品牌第一印象、核心价值、服务范围、保险提示、团队信任、预约入口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407407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5" y="22951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Program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4959" y="226771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糖尿病营养管理项目：饮食、血糖、A1C、碳水、文化饮食与长期陪伴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56448" y="2148840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229514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Recipes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0" y="2267712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糖尿病友好食谱总页与详情页，承接 SEO 和日常复访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3741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Research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45920" y="334670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公开研究白话解读，建立科学可信度并降低理解门槛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07407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08575" y="33741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Insurance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94959" y="334670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解释 $0 / 保险福利核验逻辑，减少价格焦虑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56448" y="3227832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33741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Booking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0" y="3346704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分步骤预约流程，把意向转为可跟进线索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8" y="4306824"/>
            <a:ext cx="3401568" cy="78638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45312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23B2A"/>
                </a:solidFill>
                <a:latin typeface="微软雅黑" panose="020B0503020204020204" charset="-122"/>
              </a:rPr>
              <a:t>About</a:t>
            </a:r>
            <a:endParaRPr sz="13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45920" y="4425696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C695E"/>
                </a:solidFill>
                <a:latin typeface="微软雅黑" panose="020B0503020204020204" charset="-122"/>
              </a:rPr>
              <a:t>团队、理念、服务语言和文化适配能力</a:t>
            </a:r>
            <a:endParaRPr sz="8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4233" y="5409184"/>
            <a:ext cx="10881360" cy="749808"/>
          </a:xfrm>
          <a:prstGeom prst="roundRect">
            <a:avLst/>
          </a:prstGeom>
          <a:solidFill>
            <a:srgbClr val="D2F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663" y="5687568"/>
            <a:ext cx="10241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123B2A"/>
                </a:solidFill>
                <a:latin typeface="微软雅黑" panose="020B0503020204020204" charset="-122"/>
              </a:rPr>
              <a:t>推荐客户沟通口径：先确认糖尿病独立站的定位与内容边界，再进入预约系统、保险核验和后端 CRM 的技术细节。</a:t>
            </a:r>
            <a:endParaRPr sz="122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03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VISUAL DIRECTION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高级、清爽、可信，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但不冰冷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7741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参考 Seed 的现代感与胶囊式导航交互，但糖尿病站点需要更明亮、更生活化、更强调真实护理场景。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576072"/>
            <a:ext cx="5522976" cy="2926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26480" y="594360"/>
            <a:ext cx="5303520" cy="2697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740664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Hero / Header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54496" y="7589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64224" y="7589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3952" y="7589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354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996696"/>
            <a:ext cx="5157216" cy="2185416"/>
          </a:xfrm>
          <a:prstGeom prst="rect">
            <a:avLst/>
          </a:prstGeom>
        </p:spPr>
      </p:pic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3319272"/>
            <a:ext cx="5522976" cy="23774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26480" y="3337560"/>
            <a:ext cx="53035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483864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Editorial Mosaic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54496" y="35021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64224" y="35021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35021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555" y="2818765"/>
            <a:ext cx="466344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色彩：深绿建立医疗与营养可信度，亮绿色用于转化提示，米白保留温度，少量暖色提升亲和力。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图片：从“咨询场景”扩展到食物、血糖工具、研究材料、团队、保险文件等多种主题，避免单调。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排版：大标题负责记忆点，小段落负责快速理解，CTA 保持清晰、短句、可行动。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交互：Header hover、下拉菜单、内容卡片展开和页面滚动都要有流畅、克制的动画。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04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330" y="3684905"/>
            <a:ext cx="5160645" cy="2099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HOMEPAGE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首页：把信任和转化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放在第一屏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首页要快速回答：你们做什么、我适不适合、下一步怎么开始。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548640"/>
            <a:ext cx="5541264" cy="30449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89320" y="566928"/>
            <a:ext cx="5321808" cy="2816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713232"/>
            <a:ext cx="4818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首页首屏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17336" y="73152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7064" y="73152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73152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57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969264"/>
            <a:ext cx="5175504" cy="2304288"/>
          </a:xfrm>
          <a:prstGeom prst="rect">
            <a:avLst/>
          </a:prstGeom>
        </p:spPr>
      </p:pic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6168" y="3529584"/>
            <a:ext cx="2798063" cy="202082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989320" y="3547872"/>
            <a:ext cx="2578608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3694176"/>
            <a:ext cx="207568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服务模块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17336" y="3712463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7064" y="3712463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36792" y="3712463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68" y="3529584"/>
            <a:ext cx="2798063" cy="202082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32520" y="3547872"/>
            <a:ext cx="2578608" cy="17922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8552" y="3694176"/>
            <a:ext cx="2075687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内容矩阵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860536" y="3712463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70264" y="3712463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9992" y="3712463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670048"/>
            <a:ext cx="47548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首屏直接说明“Diabetes nutrition care”，不让用户猜测业务范围。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保险福利提示放在顶部，降低价格门槛；文案保持合规，强调 eligible / benefits verification。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中段用大面积横向内容矩阵展示支持范围，比传统 step list 更有品牌感。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底部串联团队、研究、食谱、预约 CTA，形成完整的转化闭环。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05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345" y="4091940"/>
            <a:ext cx="2420620" cy="98488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0790" y="3963035"/>
            <a:ext cx="2402840" cy="11544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NAVIGATION SYSTEM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0862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统一 Header 与</a:t>
            </a:r>
            <a:r>
              <a:rPr lang="en-US" sz="3100" b="0">
                <a:solidFill>
                  <a:srgbClr val="123B2A"/>
                </a:solidFill>
                <a:latin typeface="微软雅黑" panose="020B0503020204020204" charset="-122"/>
              </a:rPr>
              <a:t> </a:t>
            </a: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Seed 式下拉菜单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420" y="127990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导航不只是链接集合，而是一个轻量的内容导览系统。所有页面保持同一套导航内容，避免页面之间体验不一致。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47672"/>
            <a:ext cx="5294376" cy="28986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1965960"/>
            <a:ext cx="5074920" cy="2670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122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胶囊导航 + Hero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6384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336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2368296"/>
            <a:ext cx="4928616" cy="2157984"/>
          </a:xfrm>
          <a:prstGeom prst="rect">
            <a:avLst/>
          </a:prstGeom>
        </p:spPr>
      </p:pic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616" y="1947672"/>
            <a:ext cx="5294376" cy="28986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44768" y="1965960"/>
            <a:ext cx="5074920" cy="2670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122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Research Mega Menu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72783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25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10241280" cy="8046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30">
                <a:solidFill>
                  <a:srgbClr val="163228"/>
                </a:solidFill>
                <a:latin typeface="微软雅黑" panose="020B0503020204020204" charset="-122"/>
              </a:rPr>
              <a:t>顶部状态更轻，滚动后进入胶囊形态，导航位置保持一致。</a:t>
            </a:r>
            <a:endParaRPr sz="113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30">
                <a:solidFill>
                  <a:srgbClr val="163228"/>
                </a:solidFill>
                <a:latin typeface="微软雅黑" panose="020B0503020204020204" charset="-122"/>
              </a:rPr>
              <a:t>菜单 hover 高亮以滑块方式移动，不是突然变色；下拉区域带轻微位移和透明度动画。</a:t>
            </a:r>
            <a:endParaRPr sz="113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30">
                <a:solidFill>
                  <a:srgbClr val="163228"/>
                </a:solidFill>
                <a:latin typeface="微软雅黑" panose="020B0503020204020204" charset="-122"/>
              </a:rPr>
              <a:t>Program / Recipes / Research 均展示真实内容入口：项目模块、单独菜谱、研究文章，而不是空泛分类。</a:t>
            </a:r>
            <a:endParaRPr sz="113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3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30">
                <a:solidFill>
                  <a:srgbClr val="163228"/>
                </a:solidFill>
                <a:latin typeface="微软雅黑" panose="020B0503020204020204" charset="-122"/>
              </a:rPr>
              <a:t>这套 Header 已模块化，后续新增页面可以统一继承。</a:t>
            </a:r>
            <a:endParaRPr sz="113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06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2256790"/>
            <a:ext cx="4067810" cy="2381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PROGRAM PAGE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Program：把服务讲成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用户能执行的支持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8249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Program 页面不是罗列服务，而是围绕糖尿病用户每天面对的真实决策组织内容。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640080"/>
            <a:ext cx="5449824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658368"/>
            <a:ext cx="5230368" cy="2788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804672"/>
            <a:ext cx="4727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Program 首屏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8776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18504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3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060704"/>
            <a:ext cx="5084064" cy="2276856"/>
          </a:xfrm>
          <a:prstGeom prst="rect">
            <a:avLst/>
          </a:prstGeom>
        </p:spPr>
      </p:pic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3657599"/>
            <a:ext cx="5449824" cy="19476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80760" y="3675887"/>
            <a:ext cx="5230368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822191"/>
            <a:ext cx="4727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项目模块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08776" y="384047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384047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2" y="384047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t_922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4078224"/>
            <a:ext cx="5084064" cy="120700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6656" y="2816098"/>
            <a:ext cx="484632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70">
                <a:solidFill>
                  <a:srgbClr val="163228"/>
                </a:solidFill>
                <a:latin typeface="微软雅黑" panose="020B0503020204020204" charset="-122"/>
              </a:rPr>
              <a:t>Meal planning：把“能吃什么”转成可重复执行的餐盘和购物建议。</a:t>
            </a:r>
            <a:endParaRPr sz="127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70">
                <a:solidFill>
                  <a:srgbClr val="163228"/>
                </a:solidFill>
                <a:latin typeface="微软雅黑" panose="020B0503020204020204" charset="-122"/>
              </a:rPr>
              <a:t>Blood sugar patterns：帮助用户理解数字背后的饮食、活动与时间因素。</a:t>
            </a:r>
            <a:endParaRPr sz="127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70">
                <a:solidFill>
                  <a:srgbClr val="163228"/>
                </a:solidFill>
                <a:latin typeface="微软雅黑" panose="020B0503020204020204" charset="-122"/>
              </a:rPr>
              <a:t>Carb confidence：不制造恐惧，强调份量、搭配和时机。</a:t>
            </a:r>
            <a:endParaRPr sz="127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70">
                <a:solidFill>
                  <a:srgbClr val="163228"/>
                </a:solidFill>
                <a:latin typeface="微软雅黑" panose="020B0503020204020204" charset="-122"/>
              </a:rPr>
              <a:t>Dietitian support：突出注册营养师陪伴，而不是一次性的资料下载。</a:t>
            </a:r>
            <a:endParaRPr sz="127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7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70">
                <a:solidFill>
                  <a:srgbClr val="163228"/>
                </a:solidFill>
                <a:latin typeface="微软雅黑" panose="020B0503020204020204" charset="-122"/>
              </a:rPr>
              <a:t>Culturally realistic meals：保留文化饮食，不把管理糖尿病等同于单一西式餐单。</a:t>
            </a:r>
            <a:endParaRPr sz="127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07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RECIPES SYSTEM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Recipes：既是内容资产，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也是复访入口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47672"/>
            <a:ext cx="5294376" cy="280720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965960"/>
            <a:ext cx="5074920" cy="2578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950" y="2048764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菜谱总页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384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947672"/>
            <a:ext cx="5294376" cy="280720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9632" y="1965960"/>
            <a:ext cx="5074920" cy="2578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83629" y="2048129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菜谱详情页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27648" y="2130552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37376" y="2130552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47104" y="2130552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010912"/>
            <a:ext cx="101498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50">
                <a:solidFill>
                  <a:srgbClr val="163228"/>
                </a:solidFill>
                <a:latin typeface="微软雅黑" panose="020B0503020204020204" charset="-122"/>
              </a:rPr>
              <a:t>总页负责发现：按实用场景展示早餐、主餐、小食、甜点等内容。</a:t>
            </a:r>
            <a:endParaRPr sz="11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50">
                <a:solidFill>
                  <a:srgbClr val="163228"/>
                </a:solidFill>
                <a:latin typeface="微软雅黑" panose="020B0503020204020204" charset="-122"/>
              </a:rPr>
              <a:t>详情页负责执行：食材、步骤、营养提示、糖尿病友好说明都需要清晰可读。</a:t>
            </a:r>
            <a:endParaRPr sz="11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50">
                <a:solidFill>
                  <a:srgbClr val="163228"/>
                </a:solidFill>
                <a:latin typeface="微软雅黑" panose="020B0503020204020204" charset="-122"/>
              </a:rPr>
              <a:t>图片要明亮、真实、有食欲，同时避免过度“医疗化”。</a:t>
            </a:r>
            <a:endParaRPr sz="115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50">
                <a:solidFill>
                  <a:srgbClr val="163228"/>
                </a:solidFill>
                <a:latin typeface="微软雅黑" panose="020B0503020204020204" charset="-122"/>
              </a:rPr>
              <a:t>Header 下拉直接展示单独菜谱，减少从导航到具体内容的点击成本。</a:t>
            </a:r>
            <a:endParaRPr sz="115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08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04720"/>
            <a:ext cx="4446270" cy="220789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95" y="2203450"/>
            <a:ext cx="4476750" cy="222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RESEARCH LIBRARY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Research：把公开研究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翻译成普通人能懂的话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5201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研究页的价值不是堆论文，而是建立“这个品牌懂科学，也懂用户”的信任感。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640080"/>
            <a:ext cx="5541264" cy="2971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53328" y="658368"/>
            <a:ext cx="5321808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804672"/>
            <a:ext cx="4818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Research Library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81344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3639312"/>
            <a:ext cx="5541264" cy="194767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53328" y="3657600"/>
            <a:ext cx="5321808" cy="17190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803904"/>
            <a:ext cx="4818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Article Detail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1344" y="3822191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3822191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822191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852293"/>
            <a:ext cx="47548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每篇研究用白话标题、关键结论、适用人群、日常做法来呈现。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主题覆盖 A1C、餐后步行、高纤维饮食、血糖监测、心血管风险等。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文章详情页避免论文式表达，优先回答“这和我的饮食/运动/监测有什么关系”。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这部分可以作为长期 SEO 与品牌权威建设的核心栏目。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09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05840"/>
            <a:ext cx="4592320" cy="22796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65" y="3963670"/>
            <a:ext cx="4323080" cy="1412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BOOKING FLOW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Booking：从兴趣到线索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要足够顺滑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5681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预约页不是一张表单，而是一个低压力引导流程：先确认目标，再收集信息，最后给出下一步。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640080"/>
            <a:ext cx="5541264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53328" y="658368"/>
            <a:ext cx="5321808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804672"/>
            <a:ext cx="4818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预约首屏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81344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91072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76" y="3493008"/>
            <a:ext cx="5541264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053328" y="3511296"/>
            <a:ext cx="5321808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481888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分步骤表单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1344" y="3675887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1072" y="3675887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675887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457200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Step 1：用户目标，例如降低 A1C、建立餐单、看懂血糖读数。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Step 2：就诊与诊断背景，帮助团队判断服务路径。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Step 3：保险或自费偏好，提前处理价格与资格问题。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Step 4：语言与沟通方式，强化文化适配。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Step 5：联系方式与提交后说明，方便团队后续跟进。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10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5005" y="3589020"/>
            <a:ext cx="3942080" cy="19570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855" y="1005840"/>
            <a:ext cx="4253230" cy="2111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INSURANCE MESSAGE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保险福利：降低门槛，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但必须表达严谨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731519"/>
            <a:ext cx="5449824" cy="31363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08192" y="749808"/>
            <a:ext cx="5230368" cy="2907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64224" y="896112"/>
            <a:ext cx="472744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Insurance Page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6207" y="91440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45936" y="91440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55664" y="91440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_293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152144"/>
            <a:ext cx="5084064" cy="23957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172200" y="4005072"/>
            <a:ext cx="5074920" cy="1298448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4297680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2FB8D"/>
                </a:solidFill>
                <a:latin typeface="微软雅黑" panose="020B0503020204020204" charset="-122"/>
              </a:rPr>
              <a:t>建议中文解释</a:t>
            </a:r>
            <a:endParaRPr sz="10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3952" y="4590288"/>
            <a:ext cx="4343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符合条件的客户，可能通过保险福利支付 $0；最终费用取决于保险计划、资格核验和服务范围。</a:t>
            </a:r>
            <a:endParaRPr sz="13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0">
                <a:solidFill>
                  <a:srgbClr val="5C695E"/>
                </a:solidFill>
                <a:latin typeface="微软雅黑" panose="020B0503020204020204" charset="-122"/>
              </a:rPr>
              <a:t>用保险福利核验降低价格焦虑，但不能把 $0 表达成绝对承诺。</a:t>
            </a:r>
            <a:endParaRPr sz="123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2670048"/>
            <a:ext cx="489204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不要把 $0 写成绝对承诺，避免用户误解为所有人免费。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页面需要解释：为什么营养咨询可能被保险覆盖、核验需要哪些信息、多久能得到结果。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Booking 流程中应保留 insurance benefits 入口，和独立 Insurance 页面互相承接。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240">
                <a:solidFill>
                  <a:srgbClr val="163228"/>
                </a:solidFill>
                <a:latin typeface="微软雅黑" panose="020B0503020204020204" charset="-122"/>
              </a:rPr>
              <a:t>客户提案阶段建议把这部分作为“转化亮点 + 合规待确认项”。</a:t>
            </a:r>
            <a:endParaRPr sz="12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11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ABOUT + TEAM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About：团队信任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和品牌温度放在一起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59001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Team 不需要单独拆出一个弱页面，合并到 About 能让用户更快理解服务理念、团队背景和护理方式。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6" name="Picture 5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640080"/>
            <a:ext cx="5568696" cy="31729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16752" y="658368"/>
            <a:ext cx="5349240" cy="2944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72784" y="804672"/>
            <a:ext cx="4846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About / Team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44768" y="822959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54496" y="822959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64224" y="822959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t_69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1060704"/>
            <a:ext cx="5202936" cy="24323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2942590"/>
            <a:ext cx="47091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展示团队合照，承接 NutriAll 原站资产，增强真实感。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突出注册营养师、文化饮食理解、多语言支持和长期陪伴。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About 页也应有预约 CTA，而不是只做品牌介绍。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300">
                <a:solidFill>
                  <a:srgbClr val="163228"/>
                </a:solidFill>
                <a:latin typeface="微软雅黑" panose="020B0503020204020204" charset="-122"/>
              </a:rPr>
              <a:t>如果后续客户有专家背书或资质证书，可加入信任徽章区。</a:t>
            </a:r>
            <a:endParaRPr sz="130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44768" y="4041648"/>
            <a:ext cx="5084064" cy="100584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3159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5C695E"/>
                </a:solidFill>
                <a:latin typeface="微软雅黑" panose="020B0503020204020204" charset="-122"/>
              </a:rPr>
              <a:t>客户感知</a:t>
            </a:r>
            <a:endParaRPr sz="10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79792" y="4279392"/>
            <a:ext cx="33375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1">
                <a:solidFill>
                  <a:srgbClr val="123B2A"/>
                </a:solidFill>
                <a:latin typeface="微软雅黑" panose="020B0503020204020204" charset="-122"/>
              </a:rPr>
              <a:t>“这是一个真实团队在帮我管理糖尿病饮食，而不是一个自动生成的健康内容站。”</a:t>
            </a:r>
            <a:endParaRPr sz="122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12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CONTENT STRATEGY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内容规划：让网站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持续产生信任和流量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627251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糖尿病站点不能只靠首页转化。长期价值来自可持续的内容栏目和清晰的服务入口。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487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微软雅黑" panose="020B0503020204020204" charset="-122"/>
              </a:rPr>
              <a:t>服务内容</a:t>
            </a:r>
            <a:endParaRPr sz="15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2907792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糖尿病营养管理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A1C 与血糖模式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文化适配餐单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保险福利说明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11296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0752" y="2487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微软雅黑" panose="020B0503020204020204" charset="-122"/>
              </a:rPr>
              <a:t>食谱内容</a:t>
            </a:r>
            <a:endParaRPr sz="15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30752" y="2907792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高蛋白早餐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高纤维主食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低糖甜点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工作日备餐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64224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微软雅黑" panose="020B0503020204020204" charset="-122"/>
              </a:rPr>
              <a:t>研究解读</a:t>
            </a:r>
            <a:endParaRPr sz="15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0" y="2907792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餐后步行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膳食纤维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碳水搭配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心血管风险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217152" y="2157984"/>
            <a:ext cx="2487168" cy="2423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36608" y="2487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23B2A"/>
                </a:solidFill>
                <a:latin typeface="微软雅黑" panose="020B0503020204020204" charset="-122"/>
              </a:rPr>
              <a:t>转化内容</a:t>
            </a:r>
            <a:endParaRPr sz="15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36608" y="2907792"/>
            <a:ext cx="2084831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免费咨询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保险核验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服务套餐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4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40">
                <a:solidFill>
                  <a:srgbClr val="163228"/>
                </a:solidFill>
                <a:latin typeface="微软雅黑" panose="020B0503020204020204" charset="-122"/>
              </a:rPr>
              <a:t>常见问题</a:t>
            </a:r>
            <a:endParaRPr sz="104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5047488"/>
            <a:ext cx="10881360" cy="768096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21808"/>
            <a:ext cx="10058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1">
                <a:solidFill>
                  <a:srgbClr val="FFFFFF"/>
                </a:solidFill>
                <a:latin typeface="微软雅黑" panose="020B0503020204020204" charset="-122"/>
              </a:rPr>
              <a:t>SEO 方向：以“diabetes dietitian / diabetes nutrition / A1C diet / diabetic recipes / insurance covered nutrition counseling”等主题建立内容集群。</a:t>
            </a:r>
            <a:endParaRPr sz="11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13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RESPONSIVE EXPERIENCE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桌面端负责品牌感，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移动端负责即时行动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65376"/>
            <a:ext cx="4837176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883664"/>
            <a:ext cx="4617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029968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Desktop Homepage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59536" y="2048256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9264" y="2048256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78992" y="2048256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_56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286000"/>
            <a:ext cx="4471416" cy="2093976"/>
          </a:xfrm>
          <a:prstGeom prst="rect">
            <a:avLst/>
          </a:prstGeom>
        </p:spPr>
      </p:pic>
      <p:pic>
        <p:nvPicPr>
          <p:cNvPr id="12" name="Picture 11" descr="phone_shadow_73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52728"/>
            <a:ext cx="1737360" cy="31089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956048" y="1234440"/>
            <a:ext cx="1481328" cy="2852928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0" y="1307592"/>
            <a:ext cx="1335024" cy="2706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6048" y="96012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5C695E"/>
                </a:solidFill>
                <a:latin typeface="微软雅黑" panose="020B0503020204020204" charset="-122"/>
              </a:rPr>
              <a:t>Home</a:t>
            </a:r>
            <a:endParaRPr sz="9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16" name="Picture 15" descr="phone_fit_2350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389888"/>
            <a:ext cx="1225296" cy="2542032"/>
          </a:xfrm>
          <a:prstGeom prst="rect">
            <a:avLst/>
          </a:prstGeom>
        </p:spPr>
      </p:pic>
      <p:pic>
        <p:nvPicPr>
          <p:cNvPr id="17" name="Picture 16" descr="phone_shadow_73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52728"/>
            <a:ext cx="1737360" cy="310896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492240" y="1234440"/>
            <a:ext cx="1481328" cy="2852928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65392" y="1307592"/>
            <a:ext cx="1335024" cy="2706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96012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5C695E"/>
                </a:solidFill>
                <a:latin typeface="微软雅黑" panose="020B0503020204020204" charset="-122"/>
              </a:rPr>
              <a:t>Booking</a:t>
            </a:r>
            <a:endParaRPr sz="9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1" name="Picture 20" descr="phone_fit_4351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5" y="1389888"/>
            <a:ext cx="1225296" cy="2542032"/>
          </a:xfrm>
          <a:prstGeom prst="rect">
            <a:avLst/>
          </a:prstGeom>
        </p:spPr>
      </p:pic>
      <p:pic>
        <p:nvPicPr>
          <p:cNvPr id="22" name="Picture 21" descr="phone_shadow_73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1252728"/>
            <a:ext cx="1737360" cy="31089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028431" y="1234440"/>
            <a:ext cx="1481328" cy="2852928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583" y="1307592"/>
            <a:ext cx="1335024" cy="2706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96012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5C695E"/>
                </a:solidFill>
                <a:latin typeface="微软雅黑" panose="020B0503020204020204" charset="-122"/>
              </a:rPr>
              <a:t>Recipes</a:t>
            </a:r>
            <a:endParaRPr sz="9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26" name="Picture 25" descr="phone_fit_8840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1389888"/>
            <a:ext cx="1225296" cy="2542032"/>
          </a:xfrm>
          <a:prstGeom prst="rect">
            <a:avLst/>
          </a:prstGeom>
        </p:spPr>
      </p:pic>
      <p:pic>
        <p:nvPicPr>
          <p:cNvPr id="27" name="Picture 26" descr="phone_shadow_73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896" y="1252728"/>
            <a:ext cx="1737360" cy="310896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9564624" y="1234440"/>
            <a:ext cx="1481328" cy="2852928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37776" y="1307592"/>
            <a:ext cx="1335024" cy="270662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4624" y="960120"/>
            <a:ext cx="14813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5C695E"/>
                </a:solidFill>
                <a:latin typeface="微软雅黑" panose="020B0503020204020204" charset="-122"/>
              </a:rPr>
              <a:t>Research</a:t>
            </a:r>
            <a:endParaRPr sz="9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pic>
        <p:nvPicPr>
          <p:cNvPr id="31" name="Picture 30" descr="phone_fit_365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1389888"/>
            <a:ext cx="1225296" cy="2542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8680" y="4892040"/>
            <a:ext cx="1028700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80">
                <a:solidFill>
                  <a:srgbClr val="163228"/>
                </a:solidFill>
                <a:latin typeface="微软雅黑" panose="020B0503020204020204" charset="-122"/>
              </a:rPr>
              <a:t>桌面端展示完整品牌叙事、页面结构和专业感；移动端强调快速预约、食谱查看和文章阅读。</a:t>
            </a:r>
            <a:endParaRPr sz="10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80">
                <a:solidFill>
                  <a:srgbClr val="163228"/>
                </a:solidFill>
                <a:latin typeface="微软雅黑" panose="020B0503020204020204" charset="-122"/>
              </a:rPr>
              <a:t>手机端需要保留保险提示、Book Now、食谱入口和 Research 入口，不能只做简单堆叠。</a:t>
            </a:r>
            <a:endParaRPr sz="10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80">
                <a:solidFill>
                  <a:srgbClr val="163228"/>
                </a:solidFill>
                <a:latin typeface="微软雅黑" panose="020B0503020204020204" charset="-122"/>
              </a:rPr>
              <a:t>后续可按真实数据优化：移动端点击热区、表单掉点、文章阅读深度、食谱收藏率。</a:t>
            </a:r>
            <a:endParaRPr sz="108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14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MULTILINGUAL PLAN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多语言：服务扩张前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先把内容体系设计好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13232" y="2011680"/>
            <a:ext cx="2926080" cy="2514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987552" y="23317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第一阶段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87552" y="2697480"/>
            <a:ext cx="2011680" cy="339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23B2A"/>
                </a:solidFill>
                <a:latin typeface="微软雅黑" panose="020B0503020204020204" charset="-122"/>
              </a:rPr>
              <a:t>中文 / </a:t>
            </a:r>
            <a:r>
              <a:rPr lang="en-US" sz="2100" b="1">
                <a:solidFill>
                  <a:srgbClr val="123B2A"/>
                </a:solidFill>
                <a:latin typeface="微软雅黑" panose="020B0503020204020204" charset="-122"/>
              </a:rPr>
              <a:t>EN / ES</a:t>
            </a:r>
            <a:endParaRPr lang="en-US" sz="21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87552" y="324612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C695E"/>
                </a:solidFill>
                <a:latin typeface="微软雅黑" panose="020B0503020204020204" charset="-122"/>
              </a:rPr>
              <a:t>先覆盖核心转化页面：Home、Program、Insurance、Booking、About。</a:t>
            </a:r>
            <a:endParaRPr sz="110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3950208" y="2011680"/>
            <a:ext cx="2926080" cy="2514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224528" y="23317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第二阶段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4224528" y="269748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23B2A"/>
                </a:solidFill>
                <a:latin typeface="微软雅黑" panose="020B0503020204020204" charset="-122"/>
              </a:rPr>
              <a:t>内容本地化</a:t>
            </a:r>
            <a:endParaRPr sz="21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224528" y="3246120"/>
            <a:ext cx="21488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C695E"/>
                </a:solidFill>
                <a:latin typeface="微软雅黑" panose="020B0503020204020204" charset="-122"/>
              </a:rPr>
              <a:t>食谱、研究文章、FAQ 根据不同文化饮食习惯重写，而不是逐字翻译。</a:t>
            </a:r>
            <a:endParaRPr sz="110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7187184" y="2011680"/>
            <a:ext cx="2926080" cy="25146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7461504" y="23317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第三阶段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7461504" y="2697480"/>
            <a:ext cx="2148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23B2A"/>
                </a:solidFill>
                <a:latin typeface="微软雅黑" panose="020B0503020204020204" charset="-122"/>
              </a:rPr>
              <a:t>语言偏好沉淀</a:t>
            </a:r>
            <a:endParaRPr sz="21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7461504" y="3246120"/>
            <a:ext cx="21214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5C695E"/>
                </a:solidFill>
                <a:latin typeface="微软雅黑" panose="020B0503020204020204" charset="-122"/>
              </a:rPr>
              <a:t>预约与注册时收集语言偏好，后续 EDM、食谱提醒和活动通知按语言分发。</a:t>
            </a:r>
            <a:endParaRPr sz="110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05840" y="5047488"/>
            <a:ext cx="9601200" cy="68580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5285232"/>
            <a:ext cx="9006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</a:rPr>
              <a:t>建议技术方向：所有页面文案进入可维护的内容字典 / CMS，避免未来每加一种语言都重做页面。</a:t>
            </a:r>
            <a:endParaRPr sz="11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15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LOGIN + EMAIL CAPTURE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登录系统：把访问者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沉淀为可运营用户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3749039" cy="283464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13716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2FB8D"/>
                </a:solidFill>
                <a:latin typeface="微软雅黑" panose="020B0503020204020204" charset="-122"/>
              </a:rPr>
              <a:t>用户注册</a:t>
            </a:r>
            <a:endParaRPr sz="11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2633472"/>
            <a:ext cx="297180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Email sign-up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+ preference profile</a:t>
            </a:r>
            <a:endParaRPr sz="2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3968368"/>
            <a:ext cx="278892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E4EADF"/>
                </a:solidFill>
                <a:latin typeface="微软雅黑" panose="020B0503020204020204" charset="-122"/>
              </a:rPr>
              <a:t>收集邮箱、语言偏好、糖尿病目标、保险/自费偏好、感兴趣的食谱类型。</a:t>
            </a:r>
            <a:endParaRPr sz="1150" b="0">
              <a:solidFill>
                <a:srgbClr val="E4EAD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92040" y="1874519"/>
            <a:ext cx="2606040" cy="106070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07568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01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550407" y="20574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23B2A"/>
                </a:solidFill>
                <a:latin typeface="微软雅黑" panose="020B0503020204020204" charset="-122"/>
              </a:rPr>
              <a:t>食谱收藏</a:t>
            </a:r>
            <a:endParaRPr sz="13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50407" y="2368296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695E"/>
                </a:solidFill>
                <a:latin typeface="微软雅黑" panose="020B0503020204020204" charset="-122"/>
              </a:rPr>
              <a:t>用户保存喜欢的菜谱，系统可推荐相似内容。</a:t>
            </a:r>
            <a:endParaRPr sz="8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63840" y="1874519"/>
            <a:ext cx="2606040" cy="106070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207568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02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22208" y="205740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23B2A"/>
                </a:solidFill>
                <a:latin typeface="微软雅黑" panose="020B0503020204020204" charset="-122"/>
              </a:rPr>
              <a:t>研究订阅</a:t>
            </a:r>
            <a:endParaRPr sz="13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22208" y="2368296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695E"/>
                </a:solidFill>
                <a:latin typeface="微软雅黑" panose="020B0503020204020204" charset="-122"/>
              </a:rPr>
              <a:t>有新研究解读时按主题推送。</a:t>
            </a:r>
            <a:endParaRPr sz="8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892040" y="3291839"/>
            <a:ext cx="2606040" cy="106070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34930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03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50407" y="347472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23B2A"/>
                </a:solidFill>
                <a:latin typeface="微软雅黑" panose="020B0503020204020204" charset="-122"/>
              </a:rPr>
              <a:t>预约提醒</a:t>
            </a:r>
            <a:endParaRPr sz="13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50407" y="3785615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695E"/>
                </a:solidFill>
                <a:latin typeface="微软雅黑" panose="020B0503020204020204" charset="-122"/>
              </a:rPr>
              <a:t>未完成 Booking 的用户可触发 follow-up。</a:t>
            </a:r>
            <a:endParaRPr sz="8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863840" y="3291839"/>
            <a:ext cx="2606040" cy="1060704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3493008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8C6D"/>
                </a:solidFill>
                <a:latin typeface="微软雅黑" panose="020B0503020204020204" charset="-122"/>
              </a:rPr>
              <a:t>04</a:t>
            </a:r>
            <a:endParaRPr sz="10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22208" y="3474720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23B2A"/>
                </a:solidFill>
                <a:latin typeface="微软雅黑" panose="020B0503020204020204" charset="-122"/>
              </a:rPr>
              <a:t>客户分层</a:t>
            </a:r>
            <a:endParaRPr sz="13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2208" y="3785615"/>
            <a:ext cx="1691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80" b="0">
                <a:solidFill>
                  <a:srgbClr val="5C695E"/>
                </a:solidFill>
                <a:latin typeface="微软雅黑" panose="020B0503020204020204" charset="-122"/>
              </a:rPr>
              <a:t>按目标、语言、保险状态分组运营。</a:t>
            </a:r>
            <a:endParaRPr sz="8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83480" y="4754880"/>
            <a:ext cx="5669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6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60">
                <a:solidFill>
                  <a:srgbClr val="163228"/>
                </a:solidFill>
                <a:latin typeface="微软雅黑" panose="020B0503020204020204" charset="-122"/>
              </a:rPr>
              <a:t>账号系统建议从轻量 Email 注册开始，不一开始做复杂会员体系。</a:t>
            </a:r>
            <a:endParaRPr sz="106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6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60">
                <a:solidFill>
                  <a:srgbClr val="163228"/>
                </a:solidFill>
                <a:latin typeface="微软雅黑" panose="020B0503020204020204" charset="-122"/>
              </a:rPr>
              <a:t>注册价值要明确：收藏食谱、订阅研究更新、接收优惠活动、查看预约进度。</a:t>
            </a:r>
            <a:endParaRPr sz="106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6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060">
                <a:solidFill>
                  <a:srgbClr val="163228"/>
                </a:solidFill>
                <a:latin typeface="微软雅黑" panose="020B0503020204020204" charset="-122"/>
              </a:rPr>
              <a:t>后续可连接 CRM / 邮件平台，把网站从展示页升级为客户运营入口。</a:t>
            </a:r>
            <a:endParaRPr sz="106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16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EDM AUTOMATION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EDM：用内容更新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增加客户黏性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2148840"/>
            <a:ext cx="1874519" cy="23317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D98C6D"/>
                </a:solidFill>
                <a:latin typeface="微软雅黑" panose="020B0503020204020204" charset="-122"/>
              </a:rPr>
              <a:t>注册后</a:t>
            </a:r>
            <a:endParaRPr sz="95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23B2A"/>
                </a:solidFill>
                <a:latin typeface="微软雅黑" panose="020B0503020204020204" charset="-122"/>
              </a:rPr>
              <a:t>欢迎邮件</a:t>
            </a:r>
            <a:endParaRPr sz="14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2735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5C695E"/>
                </a:solidFill>
                <a:latin typeface="微软雅黑" panose="020B0503020204020204" charset="-122"/>
              </a:rPr>
              <a:t>介绍服务、保险核验、推荐第一批食谱。</a:t>
            </a:r>
            <a:endParaRPr sz="92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962656" y="2148840"/>
            <a:ext cx="1874519" cy="23317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4688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D98C6D"/>
                </a:solidFill>
                <a:latin typeface="微软雅黑" panose="020B0503020204020204" charset="-122"/>
              </a:rPr>
              <a:t>每周</a:t>
            </a:r>
            <a:endParaRPr sz="95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27248" y="283464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23B2A"/>
                </a:solidFill>
                <a:latin typeface="微软雅黑" panose="020B0503020204020204" charset="-122"/>
              </a:rPr>
              <a:t>食谱更新</a:t>
            </a:r>
            <a:endParaRPr sz="14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27248" y="32735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5C695E"/>
                </a:solidFill>
                <a:latin typeface="微软雅黑" panose="020B0503020204020204" charset="-122"/>
              </a:rPr>
              <a:t>按早餐、主餐、低糖甜点等兴趣标签推送。</a:t>
            </a:r>
            <a:endParaRPr sz="92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75504" y="2148840"/>
            <a:ext cx="1874519" cy="23317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24688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D98C6D"/>
                </a:solidFill>
                <a:latin typeface="微软雅黑" panose="020B0503020204020204" charset="-122"/>
              </a:rPr>
              <a:t>每月</a:t>
            </a:r>
            <a:endParaRPr sz="95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40096" y="283464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23B2A"/>
                </a:solidFill>
                <a:latin typeface="微软雅黑" panose="020B0503020204020204" charset="-122"/>
              </a:rPr>
              <a:t>研究摘要</a:t>
            </a:r>
            <a:endParaRPr sz="14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40096" y="32735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5C695E"/>
                </a:solidFill>
                <a:latin typeface="微软雅黑" panose="020B0503020204020204" charset="-122"/>
              </a:rPr>
              <a:t>把新的糖尿病研究用普通语言总结给用户。</a:t>
            </a:r>
            <a:endParaRPr sz="92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88352" y="2148840"/>
            <a:ext cx="1874519" cy="23317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4688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D98C6D"/>
                </a:solidFill>
                <a:latin typeface="微软雅黑" panose="020B0503020204020204" charset="-122"/>
              </a:rPr>
              <a:t>活动期</a:t>
            </a:r>
            <a:endParaRPr sz="95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2944" y="283464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23B2A"/>
                </a:solidFill>
                <a:latin typeface="微软雅黑" panose="020B0503020204020204" charset="-122"/>
              </a:rPr>
              <a:t>优惠提醒</a:t>
            </a:r>
            <a:endParaRPr sz="14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52944" y="32735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5C695E"/>
                </a:solidFill>
                <a:latin typeface="微软雅黑" panose="020B0503020204020204" charset="-122"/>
              </a:rPr>
              <a:t>咨询活动、保险核验窗口、节日饮食专题。</a:t>
            </a:r>
            <a:endParaRPr sz="92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601200" y="2148840"/>
            <a:ext cx="1874519" cy="23317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65792" y="24688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D98C6D"/>
                </a:solidFill>
                <a:latin typeface="微软雅黑" panose="020B0503020204020204" charset="-122"/>
              </a:rPr>
              <a:t>未预约</a:t>
            </a:r>
            <a:endParaRPr sz="95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65792" y="2834640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23B2A"/>
                </a:solidFill>
                <a:latin typeface="微软雅黑" panose="020B0503020204020204" charset="-122"/>
              </a:rPr>
              <a:t>转化唤醒</a:t>
            </a:r>
            <a:endParaRPr sz="145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765792" y="3273552"/>
            <a:ext cx="14630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20" b="0">
                <a:solidFill>
                  <a:srgbClr val="5C695E"/>
                </a:solidFill>
                <a:latin typeface="微软雅黑" panose="020B0503020204020204" charset="-122"/>
              </a:rPr>
              <a:t>提醒完成 Booking 或预约免费 discovery call。</a:t>
            </a:r>
            <a:endParaRPr sz="92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49808" y="4983480"/>
            <a:ext cx="10469880" cy="658368"/>
          </a:xfrm>
          <a:prstGeom prst="roundRect">
            <a:avLst/>
          </a:prstGeom>
          <a:solidFill>
            <a:srgbClr val="D2F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12080"/>
            <a:ext cx="9875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80" b="1">
                <a:solidFill>
                  <a:srgbClr val="123B2A"/>
                </a:solidFill>
                <a:latin typeface="微软雅黑" panose="020B0503020204020204" charset="-122"/>
              </a:rPr>
              <a:t>关键指标：Email 注册率、预约转化率、食谱点击率、文章阅读率、活动邮件打开率、复访率。</a:t>
            </a:r>
            <a:endParaRPr sz="118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17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IMPLEMENTATION ROADMAP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落地路径建议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40866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为了控制客户决策成本，可以分阶段推进：先确认视觉和内容结构，再接入真实业务流程与增长系统。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59689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微软雅黑" panose="020B0503020204020204" charset="-122"/>
              </a:rPr>
              <a:t>01</a:t>
            </a:r>
            <a:endParaRPr sz="16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303580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微软雅黑" panose="020B0503020204020204" charset="-122"/>
              </a:rPr>
              <a:t>品牌与结构</a:t>
            </a:r>
            <a:endParaRPr sz="14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7824" y="3493008"/>
            <a:ext cx="1508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微软雅黑" panose="020B0503020204020204" charset="-122"/>
              </a:rPr>
              <a:t>确认定位、页面结构、核心文案和视觉方向。</a:t>
            </a:r>
            <a:endParaRPr sz="9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980944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5536" y="259689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微软雅黑" panose="020B0503020204020204" charset="-122"/>
              </a:rPr>
              <a:t>02</a:t>
            </a:r>
            <a:endParaRPr sz="16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45536" y="303580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微软雅黑" panose="020B0503020204020204" charset="-122"/>
              </a:rPr>
              <a:t>核心页面</a:t>
            </a:r>
            <a:endParaRPr sz="14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45536" y="3493008"/>
            <a:ext cx="1508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微软雅黑" panose="020B0503020204020204" charset="-122"/>
              </a:rPr>
              <a:t>完成首页、Program、Recipes、Research、Insurance、Booking、About。</a:t>
            </a:r>
            <a:endParaRPr sz="9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248656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59689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微软雅黑" panose="020B0503020204020204" charset="-122"/>
              </a:rPr>
              <a:t>03</a:t>
            </a:r>
            <a:endParaRPr sz="16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13248" y="303580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微软雅黑" panose="020B0503020204020204" charset="-122"/>
              </a:rPr>
              <a:t>移动端 QA</a:t>
            </a:r>
            <a:endParaRPr sz="14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13248" y="3493008"/>
            <a:ext cx="1508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微软雅黑" panose="020B0503020204020204" charset="-122"/>
              </a:rPr>
              <a:t>重点检查导航、CTA、表单、食谱与文章阅读体验。</a:t>
            </a:r>
            <a:endParaRPr sz="9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16367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259689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微软雅黑" panose="020B0503020204020204" charset="-122"/>
              </a:rPr>
              <a:t>04</a:t>
            </a:r>
            <a:endParaRPr sz="16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59" y="303580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微软雅黑" panose="020B0503020204020204" charset="-122"/>
              </a:rPr>
              <a:t>系统接入</a:t>
            </a:r>
            <a:endParaRPr sz="14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80959" y="3493008"/>
            <a:ext cx="1508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微软雅黑" panose="020B0503020204020204" charset="-122"/>
              </a:rPr>
              <a:t>预约表单、CRM、保险核验、邮件通知、分析工具。</a:t>
            </a:r>
            <a:endParaRPr sz="9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784080" y="2331720"/>
            <a:ext cx="1874519" cy="2304288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E4EA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8672" y="2596896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D98C6D"/>
                </a:solidFill>
                <a:latin typeface="微软雅黑" panose="020B0503020204020204" charset="-122"/>
              </a:rPr>
              <a:t>05</a:t>
            </a:r>
            <a:endParaRPr sz="1600" b="1">
              <a:solidFill>
                <a:srgbClr val="D98C6D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48672" y="3035808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23B2A"/>
                </a:solidFill>
                <a:latin typeface="微软雅黑" panose="020B0503020204020204" charset="-122"/>
              </a:rPr>
              <a:t>增长升级</a:t>
            </a:r>
            <a:endParaRPr sz="1400" b="1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948672" y="3493008"/>
            <a:ext cx="1508760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5C695E"/>
                </a:solidFill>
                <a:latin typeface="微软雅黑" panose="020B0503020204020204" charset="-122"/>
              </a:rPr>
              <a:t>多语言、Email 注册、EDM 自动化、内容订阅与用户分层。</a:t>
            </a:r>
            <a:endParaRPr sz="98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18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1">
                <a:solidFill>
                  <a:srgbClr val="5C695E"/>
                </a:solidFill>
                <a:latin typeface="微软雅黑" panose="020B0503020204020204" charset="-122"/>
              </a:rPr>
              <a:t>CLIENT DECISIONS</a:t>
            </a:r>
            <a:endParaRPr sz="85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3949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3100" b="0">
                <a:solidFill>
                  <a:srgbClr val="123B2A"/>
                </a:solidFill>
                <a:latin typeface="微软雅黑" panose="020B0503020204020204" charset="-122"/>
              </a:rPr>
              <a:t>客户需要确认的事项</a:t>
            </a:r>
            <a:endParaRPr sz="3100" b="0">
              <a:solidFill>
                <a:srgbClr val="123B2A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65301"/>
            <a:ext cx="539496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5C695E"/>
                </a:solidFill>
                <a:latin typeface="微软雅黑" panose="020B0503020204020204" charset="-122"/>
              </a:rPr>
              <a:t>这页用于会议收口：把美术方向讨论转成可执行的业务决策。</a:t>
            </a:r>
            <a:endParaRPr sz="12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1993392"/>
            <a:ext cx="55321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品牌命名：是否使用 NutriAll Diabetes Care，还是保留更独立的 diabetes brand。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保险口径：$0 benefits 的准确表达、免责声明、核验流程和适用保险范围。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预约流程：提交后由谁跟进、是否接入现有 CRM、是否需要自动邮件或短信。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用户系统：是否先做 Email 注册、是否提供食谱收藏、是否需要用户偏好标签。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EDM 运营：食谱更新、研究文章、优惠活动和预约提醒分别由谁维护。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内容权限：NutriAll 原站食谱、团队合照、Logo 与图片资产是否全部可用于独立站。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80" b="1">
                <a:solidFill>
                  <a:srgbClr val="D2FB8D"/>
                </a:solidFill>
                <a:latin typeface="微软雅黑" panose="020B0503020204020204" charset="-122"/>
              </a:rPr>
              <a:t>• </a:t>
            </a:r>
            <a:r>
              <a:rPr sz="1180">
                <a:solidFill>
                  <a:srgbClr val="163228"/>
                </a:solidFill>
                <a:latin typeface="微软雅黑" panose="020B0503020204020204" charset="-122"/>
              </a:rPr>
              <a:t>上线节奏：先上线核心转化页，还是同步完成研究库与食谱库。</a:t>
            </a:r>
            <a:endParaRPr sz="1180">
              <a:solidFill>
                <a:srgbClr val="16322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29400" y="1874519"/>
            <a:ext cx="4462272" cy="2697480"/>
          </a:xfrm>
          <a:prstGeom prst="round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235915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D2FB8D"/>
                </a:solidFill>
                <a:latin typeface="微软雅黑" panose="020B0503020204020204" charset="-122"/>
              </a:rPr>
              <a:t>建议会议目标</a:t>
            </a:r>
            <a:endParaRPr sz="11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5160" y="2816352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</a:rPr>
              <a:t>让客户先对“糖尿病独立站的品牌方向与页面结构”点头，再进入报价、开发周期和后端集成讨论。</a:t>
            </a:r>
            <a:endParaRPr sz="19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5C695E"/>
                </a:solidFill>
                <a:latin typeface="微软雅黑" panose="020B0503020204020204" charset="-122"/>
              </a:rPr>
              <a:t>20</a:t>
            </a:r>
            <a:endParaRPr sz="80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4389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95E"/>
                </a:solidFill>
                <a:latin typeface="微软雅黑" panose="020B0503020204020204" charset="-122"/>
              </a:rPr>
              <a:t>NutriAll Diabetes Care · Website Design Proposal</a:t>
            </a:r>
            <a:endParaRPr sz="750" b="0">
              <a:solidFill>
                <a:srgbClr val="5C695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4754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2FB8D"/>
                </a:solidFill>
                <a:latin typeface="微软雅黑" panose="020B0503020204020204" charset="-122"/>
              </a:rPr>
              <a:t>NutriAll Diabetes Care</a:t>
            </a:r>
            <a:endParaRPr sz="13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444752"/>
            <a:ext cx="557784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微软雅黑" panose="020B0503020204020204" charset="-122"/>
              </a:rPr>
              <a:t>让糖尿病营养管理</a:t>
            </a:r>
            <a:endParaRPr sz="34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微软雅黑" panose="020B0503020204020204" charset="-122"/>
              </a:rPr>
              <a:t>更容易开始，</a:t>
            </a:r>
            <a:endParaRPr sz="34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95000"/>
              </a:lnSpc>
            </a:pPr>
            <a:r>
              <a:rPr sz="3400" b="0">
                <a:solidFill>
                  <a:srgbClr val="FFFFFF"/>
                </a:solidFill>
                <a:latin typeface="微软雅黑" panose="020B0503020204020204" charset="-122"/>
              </a:rPr>
              <a:t>也更容易坚持。</a:t>
            </a:r>
            <a:endParaRPr sz="34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4919472"/>
            <a:ext cx="443484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微软雅黑" panose="020B0503020204020204" charset="-122"/>
              </a:rPr>
              <a:t>下一步：确认设计方向与内容范围后，</a:t>
            </a:r>
            <a:endParaRPr sz="1250" b="0">
              <a:solidFill>
                <a:srgbClr val="E4EADF"/>
              </a:solidFill>
              <a:latin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微软雅黑" panose="020B0503020204020204" charset="-122"/>
              </a:rPr>
              <a:t>可进入正式页面设计、内容整理、</a:t>
            </a:r>
            <a:endParaRPr sz="1250" b="0">
              <a:solidFill>
                <a:srgbClr val="E4EADF"/>
              </a:solidFill>
              <a:latin typeface="微软雅黑" panose="020B0503020204020204" charset="-122"/>
            </a:endParaRP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E4EADF"/>
                </a:solidFill>
                <a:latin typeface="微软雅黑" panose="020B0503020204020204" charset="-122"/>
              </a:rPr>
              <a:t>预约流程与保险核验系统规划。</a:t>
            </a:r>
            <a:endParaRPr sz="1250" b="0">
              <a:solidFill>
                <a:srgbClr val="E4EADF"/>
              </a:solidFill>
              <a:latin typeface="微软雅黑" panose="020B0503020204020204" charset="-122"/>
            </a:endParaRPr>
          </a:p>
        </p:txBody>
      </p:sp>
      <p:pic>
        <p:nvPicPr>
          <p:cNvPr id="7" name="Picture 6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28" y="786384"/>
            <a:ext cx="4974336" cy="2715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804672"/>
            <a:ext cx="4754880" cy="24871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950976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Booking Direction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83096" y="969264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2824" y="969264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2552" y="969264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t_9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07008"/>
            <a:ext cx="4608576" cy="1975104"/>
          </a:xfrm>
          <a:prstGeom prst="rect">
            <a:avLst/>
          </a:prstGeom>
        </p:spPr>
      </p:pic>
      <p:pic>
        <p:nvPicPr>
          <p:cNvPr id="14" name="Picture 13" descr="shadow_1888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848" y="3383280"/>
            <a:ext cx="3968496" cy="189280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858000" y="3401568"/>
            <a:ext cx="3749039" cy="16642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547872"/>
            <a:ext cx="3246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80" b="1">
                <a:solidFill>
                  <a:srgbClr val="5C695E"/>
                </a:solidFill>
                <a:latin typeface="微软雅黑" panose="020B0503020204020204" charset="-122"/>
              </a:rPr>
              <a:t>Research / Recipes / Trust</a:t>
            </a:r>
            <a:endParaRPr sz="880" b="1">
              <a:solidFill>
                <a:srgbClr val="5C695E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986016" y="3566160"/>
            <a:ext cx="50292" cy="50292"/>
          </a:xfrm>
          <a:prstGeom prst="roundRect">
            <a:avLst/>
          </a:prstGeom>
          <a:solidFill>
            <a:srgbClr val="D98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95744" y="3566160"/>
            <a:ext cx="50292" cy="50292"/>
          </a:xfrm>
          <a:prstGeom prst="roundRect">
            <a:avLst/>
          </a:prstGeom>
          <a:solidFill>
            <a:srgbClr val="E9D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05472" y="3566160"/>
            <a:ext cx="50292" cy="50292"/>
          </a:xfrm>
          <a:prstGeom prst="roundRect">
            <a:avLst/>
          </a:prstGeom>
          <a:solidFill>
            <a:srgbClr val="87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it_6458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3803904"/>
            <a:ext cx="3602735" cy="1152144"/>
          </a:xfrm>
          <a:prstGeom prst="rect">
            <a:avLst/>
          </a:prstGeom>
        </p:spPr>
      </p:pic>
      <p:pic>
        <p:nvPicPr>
          <p:cNvPr id="21" name="Picture 20" descr="phone_shadow_7309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7272" y="3291840"/>
            <a:ext cx="1152144" cy="19202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287000" y="3273552"/>
            <a:ext cx="896112" cy="1664208"/>
          </a:xfrm>
          <a:prstGeom prst="roundRect">
            <a:avLst/>
          </a:prstGeom>
          <a:solidFill>
            <a:srgbClr val="09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60152" y="3346704"/>
            <a:ext cx="749808" cy="15179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hone_fit_3417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3429000"/>
            <a:ext cx="640080" cy="13533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D2FB8D"/>
                </a:solidFill>
                <a:latin typeface="微软雅黑" panose="020B0503020204020204" charset="-122"/>
              </a:rPr>
              <a:t>21</a:t>
            </a:r>
            <a:endParaRPr sz="800" b="1">
              <a:solidFill>
                <a:srgbClr val="D2FB8D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2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3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4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5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6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7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8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9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10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11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ags/tag12.xml><?xml version="1.0" encoding="utf-8"?>
<p:tagLst xmlns:p="http://schemas.openxmlformats.org/presentationml/2006/main">
  <p:tag name="KSO_WM_DIAGRAM_VIRTUALLY_FRAME" val="{&quot;height&quot;:198,&quot;left&quot;:56.160000000000004,&quot;top&quot;:158.4,&quot;width&quot;:740.1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6145</Words>
  <Application>WPS 演示</Application>
  <PresentationFormat>On-screen Show (4:3)</PresentationFormat>
  <Paragraphs>530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Jeff</cp:lastModifiedBy>
  <cp:revision>3</cp:revision>
  <dcterms:created xsi:type="dcterms:W3CDTF">2013-01-27T09:14:00Z</dcterms:created>
  <dcterms:modified xsi:type="dcterms:W3CDTF">2026-05-10T09:30:49Z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13907F4D5F2748E68F18CD4FD8CA00E7_12</vt:lpwstr>
  </property>
</Properties>
</file>