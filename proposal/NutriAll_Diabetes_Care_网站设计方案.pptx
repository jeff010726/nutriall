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jpg"/><Relationship Id="rId4" Type="http://schemas.openxmlformats.org/officeDocument/2006/relationships/image" Target="../media/image2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jpg"/><Relationship Id="rId4" Type="http://schemas.openxmlformats.org/officeDocument/2006/relationships/image" Target="../media/image2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jpg"/><Relationship Id="rId4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0"/>
            <a:ext cx="4754880" cy="6858000"/>
          </a:xfrm>
          <a:prstGeom prst="rect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566928"/>
            <a:ext cx="1417320" cy="310896"/>
          </a:xfrm>
          <a:prstGeom prst="roundRect">
            <a:avLst/>
          </a:prstGeom>
          <a:solidFill>
            <a:srgbClr val="D2F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635508"/>
            <a:ext cx="11978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23B2A"/>
                </a:solidFill>
                <a:latin typeface="Microsoft YaHei"/>
              </a:rPr>
              <a:t>CLIENT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33271"/>
            <a:ext cx="48463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3800" b="0">
                <a:solidFill>
                  <a:srgbClr val="123B2A"/>
                </a:solidFill>
                <a:latin typeface="Microsoft YaHei"/>
              </a:rPr>
              <a:t>NutriAll</a:t>
            </a:r>
          </a:p>
          <a:p>
            <a:pPr algn="l">
              <a:lnSpc>
                <a:spcPct val="88000"/>
              </a:lnSpc>
            </a:pPr>
            <a:r>
              <a:rPr sz="3800" b="0">
                <a:solidFill>
                  <a:srgbClr val="123B2A"/>
                </a:solidFill>
                <a:latin typeface="Microsoft YaHei"/>
              </a:rPr>
              <a:t>Diabetes 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606040"/>
            <a:ext cx="47091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800" b="1">
                <a:solidFill>
                  <a:srgbClr val="163228"/>
                </a:solidFill>
                <a:latin typeface="Microsoft YaHei"/>
              </a:rPr>
              <a:t>糖尿病营养管理独立站</a:t>
            </a:r>
          </a:p>
          <a:p>
            <a:pPr algn="l">
              <a:lnSpc>
                <a:spcPct val="116000"/>
              </a:lnSpc>
            </a:pPr>
            <a:r>
              <a:rPr sz="1800" b="1">
                <a:solidFill>
                  <a:srgbClr val="163228"/>
                </a:solidFill>
                <a:latin typeface="Microsoft YaHei"/>
              </a:rPr>
              <a:t>网站设计方案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703320"/>
            <a:ext cx="406908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80" b="0">
                <a:solidFill>
                  <a:srgbClr val="5C695E"/>
                </a:solidFill>
                <a:latin typeface="Microsoft YaHei"/>
              </a:rPr>
              <a:t>以专业营养服务、保险福利核验、</a:t>
            </a:r>
          </a:p>
          <a:p>
            <a:pPr algn="l">
              <a:lnSpc>
                <a:spcPct val="118000"/>
              </a:lnSpc>
            </a:pPr>
            <a:r>
              <a:rPr sz="1280" b="0">
                <a:solidFill>
                  <a:srgbClr val="5C695E"/>
                </a:solidFill>
                <a:latin typeface="Microsoft YaHei"/>
              </a:rPr>
              <a:t>公开研究解读和实用食谱为核心，</a:t>
            </a:r>
          </a:p>
          <a:p>
            <a:pPr algn="l">
              <a:lnSpc>
                <a:spcPct val="118000"/>
              </a:lnSpc>
            </a:pPr>
            <a:r>
              <a:rPr sz="1280" b="0">
                <a:solidFill>
                  <a:srgbClr val="5C695E"/>
                </a:solidFill>
                <a:latin typeface="Microsoft YaHei"/>
              </a:rPr>
              <a:t>建立一个可信、清晰、可转化的</a:t>
            </a:r>
          </a:p>
          <a:p>
            <a:pPr algn="l">
              <a:lnSpc>
                <a:spcPct val="118000"/>
              </a:lnSpc>
            </a:pPr>
            <a:r>
              <a:rPr sz="1280" b="0">
                <a:solidFill>
                  <a:srgbClr val="5C695E"/>
                </a:solidFill>
                <a:latin typeface="Microsoft YaHei"/>
              </a:rPr>
              <a:t>糖尿病护理入口。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144768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2026 · Website Concept Direction</a:t>
            </a:r>
          </a:p>
        </p:txBody>
      </p:sp>
      <p:pic>
        <p:nvPicPr>
          <p:cNvPr id="11" name="Picture 10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640080"/>
            <a:ext cx="6483096" cy="403250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285232" y="658368"/>
            <a:ext cx="6263640" cy="38039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41264" y="804672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Homepage Preview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13248" y="822959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22976" y="822959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32704" y="822959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it_5206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060704"/>
            <a:ext cx="6117336" cy="3291840"/>
          </a:xfrm>
          <a:prstGeom prst="rect">
            <a:avLst/>
          </a:prstGeom>
        </p:spPr>
      </p:pic>
      <p:pic>
        <p:nvPicPr>
          <p:cNvPr id="18" name="Picture 17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4169664"/>
            <a:ext cx="2368296" cy="18288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903720" y="4187952"/>
            <a:ext cx="2148840" cy="1600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9752" y="433425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Recipes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31736" y="4352544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41464" y="4352544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251192" y="4352544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it_4076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4590288"/>
            <a:ext cx="2002536" cy="1088136"/>
          </a:xfrm>
          <a:prstGeom prst="rect">
            <a:avLst/>
          </a:prstGeom>
        </p:spPr>
      </p:pic>
      <p:pic>
        <p:nvPicPr>
          <p:cNvPr id="25" name="Picture 24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848" y="3867912"/>
            <a:ext cx="2395728" cy="2039112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144000" y="3886200"/>
            <a:ext cx="2176272" cy="18105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0032" y="4032504"/>
            <a:ext cx="167335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Booking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72016" y="4050791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81744" y="4050791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491472" y="4050791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it_3097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7152" y="4288536"/>
            <a:ext cx="2029967" cy="12984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Microsoft YaHei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Microsoft YaHei"/>
              </a:rPr>
              <a:t>NutriAll Diabetes Care · Website Design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Microsoft YaHei"/>
              </a:rPr>
              <a:t>PROJECT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为什么需要一个糖尿病</a:t>
            </a: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独立业务站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5394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Microsoft YaHei"/>
              </a:rPr>
              <a:t>将糖尿病业务从 NutriAll/NutriWell 的综合健康服务中拆分出来，需要更聚焦的叙事、更明确的转化路径和更强的信任建立。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87168"/>
            <a:ext cx="539496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50">
                <a:solidFill>
                  <a:srgbClr val="163228"/>
                </a:solidFill>
                <a:latin typeface="Microsoft YaHei"/>
              </a:rPr>
              <a:t>目标用户不是泛健康人群，而是正在处理 A1C、血糖波动、饮食选择、保险福利和长期管理压力的人。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50">
                <a:solidFill>
                  <a:srgbClr val="163228"/>
                </a:solidFill>
                <a:latin typeface="Microsoft YaHei"/>
              </a:rPr>
              <a:t>网站需要从第一屏就明确：这是糖尿病营养管理，不是普通饮食建议。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50">
                <a:solidFill>
                  <a:srgbClr val="163228"/>
                </a:solidFill>
                <a:latin typeface="Microsoft YaHei"/>
              </a:rPr>
              <a:t>内容要兼顾专业感与可理解性：研究、食谱、保险、预约都必须用用户听得懂的话讲清楚。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50">
                <a:solidFill>
                  <a:srgbClr val="163228"/>
                </a:solidFill>
                <a:latin typeface="Microsoft YaHei"/>
              </a:rPr>
              <a:t>视觉上保留 NutriAll 的温度，同时做出更现代、更高级、更像独立品牌的表达。</a:t>
            </a:r>
          </a:p>
        </p:txBody>
      </p:sp>
      <p:pic>
        <p:nvPicPr>
          <p:cNvPr id="7" name="Picture 6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640080"/>
            <a:ext cx="5340096" cy="3154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658368"/>
            <a:ext cx="51206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2" y="804672"/>
            <a:ext cx="4617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当前首页方向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28816" y="822959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38544" y="822959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48272" y="822959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t_668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060704"/>
            <a:ext cx="4974336" cy="241401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92240" y="4005072"/>
            <a:ext cx="4901184" cy="1417320"/>
          </a:xfrm>
          <a:prstGeom prst="roundRect">
            <a:avLst/>
          </a:prstGeom>
          <a:solidFill>
            <a:srgbClr val="12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431596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D2FB8D"/>
                </a:solidFill>
                <a:latin typeface="Microsoft YaHei"/>
              </a:rPr>
              <a:t>核心定位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4626864"/>
            <a:ext cx="4023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</a:rPr>
              <a:t>专业、可信、可访问的糖尿病营养护理入口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Microsoft YaHei"/>
              </a:rPr>
              <a:t>NutriAll Diabetes Care · Website Design Proposal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Microsoft YaHei"/>
              </a:rPr>
              <a:t>SITE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网站结构与路由规划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5394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Microsoft YaHei"/>
              </a:rPr>
              <a:t>结构以“了解服务 → 建立信任 → 浏览内容 → 核验保险 → 预约咨询”为主线，避免用户在关键转化前迷路。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3401568" cy="786384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295144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3B2A"/>
                </a:solidFill>
                <a:latin typeface="Microsoft YaHei"/>
              </a:rPr>
              <a:t>首页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267712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C695E"/>
                </a:solidFill>
                <a:latin typeface="Microsoft YaHei"/>
              </a:rPr>
              <a:t>品牌第一印象、核心价值、服务范围、保险提示、团队信任、预约入口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7" y="2148840"/>
            <a:ext cx="3401568" cy="786384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5" y="2295144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3B2A"/>
                </a:solidFill>
                <a:latin typeface="Microsoft YaHei"/>
              </a:rPr>
              <a:t>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59" y="2267712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C695E"/>
                </a:solidFill>
                <a:latin typeface="Microsoft YaHei"/>
              </a:rPr>
              <a:t>糖尿病营养管理项目：饮食、血糖、A1C、碳水、文化饮食与长期陪伴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2148840"/>
            <a:ext cx="3401568" cy="786384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6" y="2295144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3B2A"/>
                </a:solidFill>
                <a:latin typeface="Microsoft YaHei"/>
              </a:rPr>
              <a:t>Recipes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267712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C695E"/>
                </a:solidFill>
                <a:latin typeface="Microsoft YaHei"/>
              </a:rPr>
              <a:t>糖尿病友好食谱总页与详情页，承接 SEO 和日常复访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227832"/>
            <a:ext cx="3401568" cy="786384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37413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3B2A"/>
                </a:solidFill>
                <a:latin typeface="Microsoft YaHei"/>
              </a:rPr>
              <a:t>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346704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C695E"/>
                </a:solidFill>
                <a:latin typeface="Microsoft YaHei"/>
              </a:rPr>
              <a:t>公开研究白话解读，建立科学可信度并降低理解门槛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7" y="3227832"/>
            <a:ext cx="3401568" cy="786384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8575" y="337413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3B2A"/>
                </a:solidFill>
                <a:latin typeface="Microsoft YaHei"/>
              </a:rPr>
              <a:t>Insurance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59" y="3346704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C695E"/>
                </a:solidFill>
                <a:latin typeface="Microsoft YaHei"/>
              </a:rPr>
              <a:t>解释 $0 / 保险福利核验逻辑，减少价格焦虑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6448" y="3227832"/>
            <a:ext cx="3401568" cy="786384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6" y="3374136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3B2A"/>
                </a:solidFill>
                <a:latin typeface="Microsoft YaHei"/>
              </a:rPr>
              <a:t>Booking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346704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C695E"/>
                </a:solidFill>
                <a:latin typeface="Microsoft YaHei"/>
              </a:rPr>
              <a:t>分步骤预约流程，把意向转为可跟进线索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306824"/>
            <a:ext cx="3401568" cy="786384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45312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3B2A"/>
                </a:solidFill>
                <a:latin typeface="Microsoft YaHei"/>
              </a:rPr>
              <a:t>About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425696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C695E"/>
                </a:solidFill>
                <a:latin typeface="Microsoft YaHei"/>
              </a:rPr>
              <a:t>团队、理念、服务语言和文化适配能力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901184"/>
            <a:ext cx="10881360" cy="749808"/>
          </a:xfrm>
          <a:prstGeom prst="roundRect">
            <a:avLst/>
          </a:prstGeom>
          <a:solidFill>
            <a:srgbClr val="D2F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5138928"/>
            <a:ext cx="10241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1">
                <a:solidFill>
                  <a:srgbClr val="123B2A"/>
                </a:solidFill>
                <a:latin typeface="Microsoft YaHei"/>
              </a:rPr>
              <a:t>推荐客户沟通口径：先确认糖尿病独立站的定位与内容边界，再进入预约系统、保险核验和后端 CRM 的技术细节。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Microsoft YaHe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Microsoft YaHei"/>
              </a:rPr>
              <a:t>NutriAll Diabetes Care · Website Design Proposal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Microsoft YaHei"/>
              </a:rPr>
              <a:t>VISUAL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高级、清爽、可信，</a:t>
            </a: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但不冰冷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5394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Microsoft YaHei"/>
              </a:rPr>
              <a:t>参考 Seed 的现代感与胶囊式导航交互，但糖尿病站点需要更明亮、更生活化、更强调真实护理场景。</a:t>
            </a:r>
          </a:p>
        </p:txBody>
      </p:sp>
      <p:pic>
        <p:nvPicPr>
          <p:cNvPr id="6" name="Picture 5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576072"/>
            <a:ext cx="5522976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26480" y="594360"/>
            <a:ext cx="5303520" cy="2697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740664"/>
            <a:ext cx="4800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Hero / Header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758952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64224" y="758952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73952" y="758952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t_656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996696"/>
            <a:ext cx="5157216" cy="2185416"/>
          </a:xfrm>
          <a:prstGeom prst="rect">
            <a:avLst/>
          </a:prstGeom>
        </p:spPr>
      </p:pic>
      <p:pic>
        <p:nvPicPr>
          <p:cNvPr id="13" name="Picture 12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3319272"/>
            <a:ext cx="5522976" cy="23774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126480" y="3337560"/>
            <a:ext cx="530352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483864"/>
            <a:ext cx="4800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Editorial Mosaic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3502152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64224" y="3502152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73952" y="3502152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it_7436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3739896"/>
            <a:ext cx="5157216" cy="16367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85800" y="2286000"/>
            <a:ext cx="466344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00">
                <a:solidFill>
                  <a:srgbClr val="163228"/>
                </a:solidFill>
                <a:latin typeface="Microsoft YaHei"/>
              </a:rPr>
              <a:t>色彩：深绿建立医疗与营养可信度，亮绿色用于转化提示，米白保留温度，少量暖色提升亲和力。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00">
                <a:solidFill>
                  <a:srgbClr val="163228"/>
                </a:solidFill>
                <a:latin typeface="Microsoft YaHei"/>
              </a:rPr>
              <a:t>图片：从“咨询场景”扩展到食物、血糖工具、研究材料、团队、保险文件等多种主题，避免单调。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00">
                <a:solidFill>
                  <a:srgbClr val="163228"/>
                </a:solidFill>
                <a:latin typeface="Microsoft YaHei"/>
              </a:rPr>
              <a:t>排版：大标题负责记忆点，小段落负责快速理解，CTA 保持清晰、短句、可行动。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00">
                <a:solidFill>
                  <a:srgbClr val="163228"/>
                </a:solidFill>
                <a:latin typeface="Microsoft YaHei"/>
              </a:rPr>
              <a:t>交互：Header hover、下拉菜单、内容卡片展开和页面滚动都要有流畅、克制的动画。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Microsoft YaHei"/>
              </a:rPr>
              <a:t>NutriAll Diabetes Care · Website Design Proposal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Microsoft YaHei"/>
              </a:rPr>
              <a:t>HOMEPAGE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首页：把信任和转化</a:t>
            </a: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放在第一屏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5394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Microsoft YaHei"/>
              </a:rPr>
              <a:t>首页要快速回答：你们做什么、我适不适合、下一步怎么开始。</a:t>
            </a:r>
          </a:p>
        </p:txBody>
      </p:sp>
      <p:pic>
        <p:nvPicPr>
          <p:cNvPr id="6" name="Picture 5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548640"/>
            <a:ext cx="5541264" cy="30449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89320" y="566928"/>
            <a:ext cx="5321808" cy="2816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45352" y="713232"/>
            <a:ext cx="4818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首页首屏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17336" y="731520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27064" y="731520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731520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t_9344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72" y="969264"/>
            <a:ext cx="5175504" cy="2304288"/>
          </a:xfrm>
          <a:prstGeom prst="rect">
            <a:avLst/>
          </a:prstGeom>
        </p:spPr>
      </p:pic>
      <p:pic>
        <p:nvPicPr>
          <p:cNvPr id="13" name="Picture 12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3529584"/>
            <a:ext cx="2798063" cy="202082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989320" y="3547872"/>
            <a:ext cx="2578608" cy="17922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3694176"/>
            <a:ext cx="2075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服务模块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17336" y="3712463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27064" y="3712463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36792" y="3712463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it_8826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3950208"/>
            <a:ext cx="2432303" cy="1280160"/>
          </a:xfrm>
          <a:prstGeom prst="rect">
            <a:avLst/>
          </a:prstGeom>
        </p:spPr>
      </p:pic>
      <p:pic>
        <p:nvPicPr>
          <p:cNvPr id="20" name="Picture 19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68" y="3529584"/>
            <a:ext cx="2798063" cy="202082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732520" y="3547872"/>
            <a:ext cx="2578608" cy="17922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88552" y="3694176"/>
            <a:ext cx="2075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内容矩阵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0536" y="3712463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70264" y="3712463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79992" y="3712463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it_8414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5672" y="3950208"/>
            <a:ext cx="2432303" cy="12801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2670048"/>
            <a:ext cx="47548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4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240">
                <a:solidFill>
                  <a:srgbClr val="163228"/>
                </a:solidFill>
                <a:latin typeface="Microsoft YaHei"/>
              </a:rPr>
              <a:t>首屏直接说明“Diabetes nutrition care”，不让用户猜测业务范围。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4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240">
                <a:solidFill>
                  <a:srgbClr val="163228"/>
                </a:solidFill>
                <a:latin typeface="Microsoft YaHei"/>
              </a:rPr>
              <a:t>保险福利提示放在顶部，降低价格门槛；文案保持合规，强调 eligible / benefits verification。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4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240">
                <a:solidFill>
                  <a:srgbClr val="163228"/>
                </a:solidFill>
                <a:latin typeface="Microsoft YaHei"/>
              </a:rPr>
              <a:t>中段用大面积横向内容矩阵展示支持范围，比传统 step list 更有品牌感。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4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240">
                <a:solidFill>
                  <a:srgbClr val="163228"/>
                </a:solidFill>
                <a:latin typeface="Microsoft YaHei"/>
              </a:rPr>
              <a:t>底部串联团队、研究、食谱、预约 CTA，形成完整的转化闭环。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Microsoft YaHe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Microsoft YaHei"/>
              </a:rPr>
              <a:t>NutriAll Diabetes Care · Website Design Proposal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Microsoft YaHei"/>
              </a:rPr>
              <a:t>NAVIGATION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统一 Header 与</a:t>
            </a: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Seed 式下拉菜单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5394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Microsoft YaHei"/>
              </a:rPr>
              <a:t>导航不只是链接集合，而是一个轻量的内容导览系统。所有页面保持同一套导航内容，避免页面之间体验不一致。</a:t>
            </a:r>
          </a:p>
        </p:txBody>
      </p:sp>
      <p:pic>
        <p:nvPicPr>
          <p:cNvPr id="6" name="Picture 5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947672"/>
            <a:ext cx="5294376" cy="28986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1965960"/>
            <a:ext cx="5074920" cy="2670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1226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胶囊导航 + Hero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130552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2130552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2130552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t_8526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2368296"/>
            <a:ext cx="4928616" cy="2157984"/>
          </a:xfrm>
          <a:prstGeom prst="rect">
            <a:avLst/>
          </a:prstGeom>
        </p:spPr>
      </p:pic>
      <p:pic>
        <p:nvPicPr>
          <p:cNvPr id="13" name="Picture 12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616" y="1947672"/>
            <a:ext cx="5294376" cy="289864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144768" y="1965960"/>
            <a:ext cx="5074920" cy="2670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11226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Research Mega Menu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3" y="2130552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82512" y="2130552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0" y="2130552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it_2948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368296"/>
            <a:ext cx="4928616" cy="21579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8680" y="4983480"/>
            <a:ext cx="1024128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3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130">
                <a:solidFill>
                  <a:srgbClr val="163228"/>
                </a:solidFill>
                <a:latin typeface="Microsoft YaHei"/>
              </a:rPr>
              <a:t>顶部状态更轻，滚动后进入胶囊形态，导航位置保持一致。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3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130">
                <a:solidFill>
                  <a:srgbClr val="163228"/>
                </a:solidFill>
                <a:latin typeface="Microsoft YaHei"/>
              </a:rPr>
              <a:t>菜单 hover 高亮以滑块方式移动，不是突然变色；下拉区域带轻微位移和透明度动画。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3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130">
                <a:solidFill>
                  <a:srgbClr val="163228"/>
                </a:solidFill>
                <a:latin typeface="Microsoft YaHei"/>
              </a:rPr>
              <a:t>Program / Recipes / Research 均展示真实内容入口：项目模块、单独菜谱、研究文章，而不是空泛分类。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3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130">
                <a:solidFill>
                  <a:srgbClr val="163228"/>
                </a:solidFill>
                <a:latin typeface="Microsoft YaHei"/>
              </a:rPr>
              <a:t>这套 Header 已模块化，后续新增页面可以统一继承。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Microsoft YaHe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Microsoft YaHei"/>
              </a:rPr>
              <a:t>NutriAll Diabetes Care · Website Design Proposal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Microsoft YaHei"/>
              </a:rPr>
              <a:t>PROGRAM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Program：把服务讲成</a:t>
            </a: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用户能执行的支持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5394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Microsoft YaHei"/>
              </a:rPr>
              <a:t>Program 页面不是罗列服务，而是围绕糖尿病用户每天面对的真实决策组织内容。</a:t>
            </a:r>
          </a:p>
        </p:txBody>
      </p:sp>
      <p:pic>
        <p:nvPicPr>
          <p:cNvPr id="6" name="Picture 5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640080"/>
            <a:ext cx="5449824" cy="3017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80760" y="658368"/>
            <a:ext cx="5230368" cy="2788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804672"/>
            <a:ext cx="4727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Program 首屏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822959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18504" y="822959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8232" y="822959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t_2908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060704"/>
            <a:ext cx="5084064" cy="2276856"/>
          </a:xfrm>
          <a:prstGeom prst="rect">
            <a:avLst/>
          </a:prstGeom>
        </p:spPr>
      </p:pic>
      <p:pic>
        <p:nvPicPr>
          <p:cNvPr id="13" name="Picture 12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3657599"/>
            <a:ext cx="5449824" cy="194767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080760" y="3675887"/>
            <a:ext cx="5230368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3822191"/>
            <a:ext cx="4727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项目模块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3840479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18504" y="3840479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28232" y="3840479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it_1342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4078224"/>
            <a:ext cx="5084064" cy="12070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6656" y="2212848"/>
            <a:ext cx="484632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7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270">
                <a:solidFill>
                  <a:srgbClr val="163228"/>
                </a:solidFill>
                <a:latin typeface="Microsoft YaHei"/>
              </a:rPr>
              <a:t>Meal planning：把“能吃什么”转成可重复执行的餐盘和购物建议。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7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270">
                <a:solidFill>
                  <a:srgbClr val="163228"/>
                </a:solidFill>
                <a:latin typeface="Microsoft YaHei"/>
              </a:rPr>
              <a:t>Blood sugar patterns：帮助用户理解数字背后的饮食、活动与时间因素。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7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270">
                <a:solidFill>
                  <a:srgbClr val="163228"/>
                </a:solidFill>
                <a:latin typeface="Microsoft YaHei"/>
              </a:rPr>
              <a:t>Carb confidence：不制造恐惧，强调份量、搭配和时机。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7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270">
                <a:solidFill>
                  <a:srgbClr val="163228"/>
                </a:solidFill>
                <a:latin typeface="Microsoft YaHei"/>
              </a:rPr>
              <a:t>Dietitian support：突出注册营养师陪伴，而不是一次性的资料下载。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7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270">
                <a:solidFill>
                  <a:srgbClr val="163228"/>
                </a:solidFill>
                <a:latin typeface="Microsoft YaHei"/>
              </a:rPr>
              <a:t>Culturally realistic meals：保留文化饮食，不把管理糖尿病等同于单一西式餐单。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Microsoft YaHei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Microsoft YaHei"/>
              </a:rPr>
              <a:t>NutriAll Diabetes Care · Website Design Proposal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Microsoft YaHei"/>
              </a:rPr>
              <a:t>RECIPES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Recipes：既是内容资产，</a:t>
            </a: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也是复访入口</a:t>
            </a:r>
          </a:p>
        </p:txBody>
      </p:sp>
      <p:pic>
        <p:nvPicPr>
          <p:cNvPr id="5" name="Picture 4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947672"/>
            <a:ext cx="5294376" cy="280720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965960"/>
            <a:ext cx="5074920" cy="2578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1226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菜谱总页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2130552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2130552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2130552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_655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2368296"/>
            <a:ext cx="4928616" cy="2066543"/>
          </a:xfrm>
          <a:prstGeom prst="rect">
            <a:avLst/>
          </a:prstGeom>
        </p:spPr>
      </p:pic>
      <p:pic>
        <p:nvPicPr>
          <p:cNvPr id="12" name="Picture 11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947672"/>
            <a:ext cx="5294376" cy="280720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99632" y="1965960"/>
            <a:ext cx="5074920" cy="2578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211226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菜谱详情页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2130552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37376" y="2130552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47104" y="2130552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it_259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2368296"/>
            <a:ext cx="4928616" cy="206654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1248" y="5010912"/>
            <a:ext cx="1014984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150">
                <a:solidFill>
                  <a:srgbClr val="163228"/>
                </a:solidFill>
                <a:latin typeface="Microsoft YaHei"/>
              </a:rPr>
              <a:t>总页负责发现：按实用场景展示早餐、主餐、小食、甜点等内容。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150">
                <a:solidFill>
                  <a:srgbClr val="163228"/>
                </a:solidFill>
                <a:latin typeface="Microsoft YaHei"/>
              </a:rPr>
              <a:t>详情页负责执行：食材、步骤、营养提示、糖尿病友好说明都需要清晰可读。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150">
                <a:solidFill>
                  <a:srgbClr val="163228"/>
                </a:solidFill>
                <a:latin typeface="Microsoft YaHei"/>
              </a:rPr>
              <a:t>图片要明亮、真实、有食欲，同时避免过度“医疗化”。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150">
                <a:solidFill>
                  <a:srgbClr val="163228"/>
                </a:solidFill>
                <a:latin typeface="Microsoft YaHei"/>
              </a:rPr>
              <a:t>Header 下拉直接展示单独菜谱，减少从导航到具体内容的点击成本。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Microsoft YaHei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Microsoft YaHei"/>
              </a:rPr>
              <a:t>NutriAll Diabetes Care · Website Design Proposal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Microsoft YaHei"/>
              </a:rPr>
              <a:t>RESEARCH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Research：把公开研究</a:t>
            </a: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翻译成普通人能懂的话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5394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Microsoft YaHei"/>
              </a:rPr>
              <a:t>研究页的价值不是堆论文，而是建立“这个品牌懂科学，也懂用户”的信任感。</a:t>
            </a:r>
          </a:p>
        </p:txBody>
      </p:sp>
      <p:pic>
        <p:nvPicPr>
          <p:cNvPr id="6" name="Picture 5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176" y="640080"/>
            <a:ext cx="5541264" cy="2971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53328" y="658368"/>
            <a:ext cx="5321808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804672"/>
            <a:ext cx="4818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Research Library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822959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91072" y="822959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822959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t_7867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60704"/>
            <a:ext cx="5175504" cy="2231136"/>
          </a:xfrm>
          <a:prstGeom prst="rect">
            <a:avLst/>
          </a:prstGeom>
        </p:spPr>
      </p:pic>
      <p:pic>
        <p:nvPicPr>
          <p:cNvPr id="13" name="Picture 12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176" y="3639312"/>
            <a:ext cx="5541264" cy="194767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053328" y="3657600"/>
            <a:ext cx="5321808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803904"/>
            <a:ext cx="4818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Article Detail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822191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91072" y="3822191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3822191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it_3487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4059936"/>
            <a:ext cx="5175504" cy="12070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8368" y="2304288"/>
            <a:ext cx="47548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00">
                <a:solidFill>
                  <a:srgbClr val="163228"/>
                </a:solidFill>
                <a:latin typeface="Microsoft YaHei"/>
              </a:rPr>
              <a:t>每篇研究用白话标题、关键结论、适用人群、日常做法来呈现。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00">
                <a:solidFill>
                  <a:srgbClr val="163228"/>
                </a:solidFill>
                <a:latin typeface="Microsoft YaHei"/>
              </a:rPr>
              <a:t>主题覆盖 A1C、餐后步行、高纤维饮食、血糖监测、心血管风险等。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00">
                <a:solidFill>
                  <a:srgbClr val="163228"/>
                </a:solidFill>
                <a:latin typeface="Microsoft YaHei"/>
              </a:rPr>
              <a:t>文章详情页避免论文式表达，优先回答“这和我的饮食/运动/监测有什么关系”。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00">
                <a:solidFill>
                  <a:srgbClr val="163228"/>
                </a:solidFill>
                <a:latin typeface="Microsoft YaHei"/>
              </a:rPr>
              <a:t>这部分可以作为长期 SEO 与品牌权威建设的核心栏目。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Microsoft YaHei"/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Microsoft YaHei"/>
              </a:rPr>
              <a:t>NutriAll Diabetes Care · Website Design Proposal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Microsoft YaHei"/>
              </a:rPr>
              <a:t>BOOKING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Booking：从兴趣到线索</a:t>
            </a: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要足够顺滑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5394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Microsoft YaHei"/>
              </a:rPr>
              <a:t>预约页不是一张表单，而是一个低压力引导流程：先确认目标，再收集信息，最后给出下一步。</a:t>
            </a:r>
          </a:p>
        </p:txBody>
      </p:sp>
      <p:pic>
        <p:nvPicPr>
          <p:cNvPr id="6" name="Picture 5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176" y="640080"/>
            <a:ext cx="5541264" cy="2834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53328" y="658368"/>
            <a:ext cx="5321808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804672"/>
            <a:ext cx="4818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预约首屏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822959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91072" y="822959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822959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t_6969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60704"/>
            <a:ext cx="5175504" cy="2093976"/>
          </a:xfrm>
          <a:prstGeom prst="rect">
            <a:avLst/>
          </a:prstGeom>
        </p:spPr>
      </p:pic>
      <p:pic>
        <p:nvPicPr>
          <p:cNvPr id="13" name="Picture 12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176" y="3493008"/>
            <a:ext cx="5541264" cy="21488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053328" y="3511296"/>
            <a:ext cx="5321808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657600"/>
            <a:ext cx="4818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分步骤表单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675887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91072" y="3675887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3675887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it_9467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913632"/>
            <a:ext cx="5175504" cy="14081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8368" y="2633472"/>
            <a:ext cx="457200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8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180">
                <a:solidFill>
                  <a:srgbClr val="163228"/>
                </a:solidFill>
                <a:latin typeface="Microsoft YaHei"/>
              </a:rPr>
              <a:t>Step 1：用户目标，例如降低 A1C、建立餐单、看懂血糖读数。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8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180">
                <a:solidFill>
                  <a:srgbClr val="163228"/>
                </a:solidFill>
                <a:latin typeface="Microsoft YaHei"/>
              </a:rPr>
              <a:t>Step 2：就诊与诊断背景，帮助团队判断服务路径。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8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180">
                <a:solidFill>
                  <a:srgbClr val="163228"/>
                </a:solidFill>
                <a:latin typeface="Microsoft YaHei"/>
              </a:rPr>
              <a:t>Step 3：保险或自费偏好，提前处理价格与资格问题。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8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180">
                <a:solidFill>
                  <a:srgbClr val="163228"/>
                </a:solidFill>
                <a:latin typeface="Microsoft YaHei"/>
              </a:rPr>
              <a:t>Step 4：语言与沟通方式，强化文化适配。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8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180">
                <a:solidFill>
                  <a:srgbClr val="163228"/>
                </a:solidFill>
                <a:latin typeface="Microsoft YaHei"/>
              </a:rPr>
              <a:t>Step 5：联系方式与提交后说明，方便团队后续跟进。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Microsoft YaHe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Microsoft YaHei"/>
              </a:rPr>
              <a:t>NutriAll Diabetes Care · Website Design Proposal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Microsoft YaHei"/>
              </a:rPr>
              <a:t>INSURANCE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保险福利：降低门槛，</a:t>
            </a: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但必须表达严谨</a:t>
            </a:r>
          </a:p>
        </p:txBody>
      </p:sp>
      <p:pic>
        <p:nvPicPr>
          <p:cNvPr id="5" name="Picture 4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731519"/>
            <a:ext cx="5449824" cy="31363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08192" y="749808"/>
            <a:ext cx="5230368" cy="2907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64224" y="896112"/>
            <a:ext cx="4727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Insurance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7" y="914400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45936" y="914400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55664" y="914400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_3904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152144"/>
            <a:ext cx="5084064" cy="239572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72200" y="4005072"/>
            <a:ext cx="5074920" cy="1298448"/>
          </a:xfrm>
          <a:prstGeom prst="roundRect">
            <a:avLst/>
          </a:prstGeom>
          <a:solidFill>
            <a:srgbClr val="12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429768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D2FB8D"/>
                </a:solidFill>
                <a:latin typeface="Microsoft YaHei"/>
              </a:rPr>
              <a:t>建议中文解释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4590288"/>
            <a:ext cx="4343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符合条件的客户，可能通过保险福利支付 $0；最终费用取决于保险计划、资格核验和服务范围。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4884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30" b="0">
                <a:solidFill>
                  <a:srgbClr val="5C695E"/>
                </a:solidFill>
                <a:latin typeface="Microsoft YaHei"/>
              </a:rPr>
              <a:t>用保险福利核验降低价格焦虑，但不能把 $0 表达成绝对承诺。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70048"/>
            <a:ext cx="48920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4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240">
                <a:solidFill>
                  <a:srgbClr val="163228"/>
                </a:solidFill>
                <a:latin typeface="Microsoft YaHei"/>
              </a:rPr>
              <a:t>不要把 $0 写成绝对承诺，避免用户误解为所有人免费。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4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240">
                <a:solidFill>
                  <a:srgbClr val="163228"/>
                </a:solidFill>
                <a:latin typeface="Microsoft YaHei"/>
              </a:rPr>
              <a:t>页面需要解释：为什么营养咨询可能被保险覆盖、核验需要哪些信息、多久能得到结果。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4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240">
                <a:solidFill>
                  <a:srgbClr val="163228"/>
                </a:solidFill>
                <a:latin typeface="Microsoft YaHei"/>
              </a:rPr>
              <a:t>Booking 流程中应保留 insurance benefits 入口，和独立 Insurance 页面互相承接。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4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240">
                <a:solidFill>
                  <a:srgbClr val="163228"/>
                </a:solidFill>
                <a:latin typeface="Microsoft YaHei"/>
              </a:rPr>
              <a:t>客户提案阶段建议把这部分作为“转化亮点 + 合规待确认项”。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Microsoft YaHei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Microsoft YaHei"/>
              </a:rPr>
              <a:t>NutriAll Diabetes Care · Website Design Proposal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Microsoft YaHei"/>
              </a:rPr>
              <a:t>ABOUT +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About：团队信任</a:t>
            </a: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和品牌温度放在一起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5394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Microsoft YaHei"/>
              </a:rPr>
              <a:t>Team 不需要单独拆出一个弱页面，合并到 About 能让用户更快理解服务理念、团队背景和护理方式。</a:t>
            </a:r>
          </a:p>
        </p:txBody>
      </p:sp>
      <p:pic>
        <p:nvPicPr>
          <p:cNvPr id="6" name="Picture 5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640080"/>
            <a:ext cx="5568696" cy="31729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16752" y="658368"/>
            <a:ext cx="5349240" cy="2944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72784" y="804672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About / Team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822959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54496" y="822959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64224" y="822959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t_885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4" y="1060704"/>
            <a:ext cx="5202936" cy="24323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2286000"/>
            <a:ext cx="47091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00">
                <a:solidFill>
                  <a:srgbClr val="163228"/>
                </a:solidFill>
                <a:latin typeface="Microsoft YaHei"/>
              </a:rPr>
              <a:t>展示团队合照，承接 NutriAll 原站资产，增强真实感。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00">
                <a:solidFill>
                  <a:srgbClr val="163228"/>
                </a:solidFill>
                <a:latin typeface="Microsoft YaHei"/>
              </a:rPr>
              <a:t>突出注册营养师、文化饮食理解、多语言支持和长期陪伴。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00">
                <a:solidFill>
                  <a:srgbClr val="163228"/>
                </a:solidFill>
                <a:latin typeface="Microsoft YaHei"/>
              </a:rPr>
              <a:t>About 页也应有预约 CTA，而不是只做品牌介绍。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00">
                <a:solidFill>
                  <a:srgbClr val="163228"/>
                </a:solidFill>
                <a:latin typeface="Microsoft YaHei"/>
              </a:rPr>
              <a:t>如果后续客户有专家背书或资质证书，可加入信任徽章区。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4041648"/>
            <a:ext cx="5084064" cy="100584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31596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5C695E"/>
                </a:solidFill>
                <a:latin typeface="Microsoft YaHei"/>
              </a:rPr>
              <a:t>客户感知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4279392"/>
            <a:ext cx="3337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1">
                <a:solidFill>
                  <a:srgbClr val="123B2A"/>
                </a:solidFill>
                <a:latin typeface="Microsoft YaHei"/>
              </a:rPr>
              <a:t>“这是一个真实团队在帮我管理糖尿病饮食，而不是一个自动生成的健康内容站。”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Microsoft YaHe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Microsoft YaHei"/>
              </a:rPr>
              <a:t>NutriAll Diabetes Care · Website Design Proposal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Microsoft YaHei"/>
              </a:rPr>
              <a:t>CONTENT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内容规划：让网站</a:t>
            </a: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持续产生信任和流量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5394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Microsoft YaHei"/>
              </a:rPr>
              <a:t>糖尿病站点不能只靠首页转化。长期价值来自可持续的内容栏目和清晰的服务入口。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57984"/>
            <a:ext cx="2487168" cy="242316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48716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23B2A"/>
                </a:solidFill>
                <a:latin typeface="Microsoft YaHei"/>
              </a:rPr>
              <a:t>服务内容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907792"/>
            <a:ext cx="2084831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040">
                <a:solidFill>
                  <a:srgbClr val="163228"/>
                </a:solidFill>
                <a:latin typeface="Microsoft YaHei"/>
              </a:rPr>
              <a:t>糖尿病营养管理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040">
                <a:solidFill>
                  <a:srgbClr val="163228"/>
                </a:solidFill>
                <a:latin typeface="Microsoft YaHei"/>
              </a:rPr>
              <a:t>A1C 与血糖模式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040">
                <a:solidFill>
                  <a:srgbClr val="163228"/>
                </a:solidFill>
                <a:latin typeface="Microsoft YaHei"/>
              </a:rPr>
              <a:t>文化适配餐单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040">
                <a:solidFill>
                  <a:srgbClr val="163228"/>
                </a:solidFill>
                <a:latin typeface="Microsoft YaHei"/>
              </a:rPr>
              <a:t>保险福利说明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1296" y="2157984"/>
            <a:ext cx="2487168" cy="242316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0752" y="248716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23B2A"/>
                </a:solidFill>
                <a:latin typeface="Microsoft YaHei"/>
              </a:rPr>
              <a:t>食谱内容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2907792"/>
            <a:ext cx="2084831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040">
                <a:solidFill>
                  <a:srgbClr val="163228"/>
                </a:solidFill>
                <a:latin typeface="Microsoft YaHei"/>
              </a:rPr>
              <a:t>高蛋白早餐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040">
                <a:solidFill>
                  <a:srgbClr val="163228"/>
                </a:solidFill>
                <a:latin typeface="Microsoft YaHei"/>
              </a:rPr>
              <a:t>高纤维主食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040">
                <a:solidFill>
                  <a:srgbClr val="163228"/>
                </a:solidFill>
                <a:latin typeface="Microsoft YaHei"/>
              </a:rPr>
              <a:t>低糖甜点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040">
                <a:solidFill>
                  <a:srgbClr val="163228"/>
                </a:solidFill>
                <a:latin typeface="Microsoft YaHei"/>
              </a:rPr>
              <a:t>工作日备餐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2157984"/>
            <a:ext cx="2487168" cy="242316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8716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23B2A"/>
                </a:solidFill>
                <a:latin typeface="Microsoft YaHei"/>
              </a:rPr>
              <a:t>研究解读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07792"/>
            <a:ext cx="2084831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040">
                <a:solidFill>
                  <a:srgbClr val="163228"/>
                </a:solidFill>
                <a:latin typeface="Microsoft YaHei"/>
              </a:rPr>
              <a:t>餐后步行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040">
                <a:solidFill>
                  <a:srgbClr val="163228"/>
                </a:solidFill>
                <a:latin typeface="Microsoft YaHei"/>
              </a:rPr>
              <a:t>膳食纤维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040">
                <a:solidFill>
                  <a:srgbClr val="163228"/>
                </a:solidFill>
                <a:latin typeface="Microsoft YaHei"/>
              </a:rPr>
              <a:t>碳水搭配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040">
                <a:solidFill>
                  <a:srgbClr val="163228"/>
                </a:solidFill>
                <a:latin typeface="Microsoft YaHei"/>
              </a:rPr>
              <a:t>心血管风险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17152" y="2157984"/>
            <a:ext cx="2487168" cy="242316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36608" y="248716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23B2A"/>
                </a:solidFill>
                <a:latin typeface="Microsoft YaHei"/>
              </a:rPr>
              <a:t>转化内容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6608" y="2907792"/>
            <a:ext cx="2084831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040">
                <a:solidFill>
                  <a:srgbClr val="163228"/>
                </a:solidFill>
                <a:latin typeface="Microsoft YaHei"/>
              </a:rPr>
              <a:t>免费咨询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040">
                <a:solidFill>
                  <a:srgbClr val="163228"/>
                </a:solidFill>
                <a:latin typeface="Microsoft YaHei"/>
              </a:rPr>
              <a:t>保险核验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040">
                <a:solidFill>
                  <a:srgbClr val="163228"/>
                </a:solidFill>
                <a:latin typeface="Microsoft YaHei"/>
              </a:rPr>
              <a:t>服务套餐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040">
                <a:solidFill>
                  <a:srgbClr val="163228"/>
                </a:solidFill>
                <a:latin typeface="Microsoft YaHei"/>
              </a:rPr>
              <a:t>常见问题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047488"/>
            <a:ext cx="10881360" cy="768096"/>
          </a:xfrm>
          <a:prstGeom prst="roundRect">
            <a:avLst/>
          </a:prstGeom>
          <a:solidFill>
            <a:srgbClr val="12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32180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1">
                <a:solidFill>
                  <a:srgbClr val="FFFFFF"/>
                </a:solidFill>
                <a:latin typeface="Microsoft YaHei"/>
              </a:rPr>
              <a:t>SEO 方向：以“diabetes dietitian / diabetes nutrition / A1C diet / diabetic recipes / insurance covered nutrition counseling”等主题建立内容集群。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Microsoft YaHei"/>
              </a:rP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Microsoft YaHei"/>
              </a:rPr>
              <a:t>NutriAll Diabetes Care · Website Design Proposal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Microsoft YaHei"/>
              </a:rPr>
              <a:t>RESPONSIVE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移动端与桌面端</a:t>
            </a: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都要是完整体验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5394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Microsoft YaHei"/>
              </a:rPr>
              <a:t>糖尿病用户很可能在手机上搜索食谱、预约咨询或查看保险信息，因此移动端不能只是压缩后的桌面页。</a:t>
            </a:r>
          </a:p>
        </p:txBody>
      </p:sp>
      <p:pic>
        <p:nvPicPr>
          <p:cNvPr id="6" name="Picture 5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56231"/>
            <a:ext cx="3465576" cy="29900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874519"/>
            <a:ext cx="3246120" cy="2761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2082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Desktop Section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" y="2039112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9264" y="2039112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78992" y="2039112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t_6127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276856"/>
            <a:ext cx="3099815" cy="2249424"/>
          </a:xfrm>
          <a:prstGeom prst="rect">
            <a:avLst/>
          </a:prstGeom>
        </p:spPr>
      </p:pic>
      <p:pic>
        <p:nvPicPr>
          <p:cNvPr id="13" name="Picture 12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1490472"/>
            <a:ext cx="3218687" cy="355701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498848" y="1508760"/>
            <a:ext cx="2999232" cy="33284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655063"/>
            <a:ext cx="249631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Conversion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26864" y="1673351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36592" y="1673351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46320" y="1673351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it_4243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911095"/>
            <a:ext cx="2852927" cy="2816352"/>
          </a:xfrm>
          <a:prstGeom prst="rect">
            <a:avLst/>
          </a:prstGeom>
        </p:spPr>
      </p:pic>
      <p:pic>
        <p:nvPicPr>
          <p:cNvPr id="20" name="Picture 19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2" y="1856231"/>
            <a:ext cx="3465576" cy="299008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010144" y="1874519"/>
            <a:ext cx="3246120" cy="2761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5" y="202082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Content Library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2039112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47888" y="2039112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57616" y="2039112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it_9566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296" y="2276856"/>
            <a:ext cx="3099815" cy="224942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4400" y="5193792"/>
            <a:ext cx="100584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7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070">
                <a:solidFill>
                  <a:srgbClr val="163228"/>
                </a:solidFill>
                <a:latin typeface="Microsoft YaHei"/>
              </a:rPr>
              <a:t>移动端优先保证 CTA、导航、表单字段和文章阅读体验。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7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070">
                <a:solidFill>
                  <a:srgbClr val="163228"/>
                </a:solidFill>
                <a:latin typeface="Microsoft YaHei"/>
              </a:rPr>
              <a:t>图片比例和文本位置需要单独适配，避免首屏裁切和卡片文字溢出。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7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070">
                <a:solidFill>
                  <a:srgbClr val="163228"/>
                </a:solidFill>
                <a:latin typeface="Microsoft YaHei"/>
              </a:rPr>
              <a:t>下拉菜单在移动端应转为抽屉式信息架构，保留同样的内容入口。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Microsoft YaHei"/>
              </a:rPr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Microsoft YaHei"/>
              </a:rPr>
              <a:t>NutriAll Diabetes Care · Website Design Proposal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Microsoft YaHei"/>
              </a:rP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落地路径建议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5394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Microsoft YaHei"/>
              </a:rPr>
              <a:t>为了控制客户决策成本，可以分阶段推进：先确认视觉和内容结构，再接入真实业务流程。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31720"/>
            <a:ext cx="1874519" cy="230428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596896"/>
            <a:ext cx="530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D98C6D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035808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23B2A"/>
                </a:solidFill>
                <a:latin typeface="Microsoft YaHei"/>
              </a:rPr>
              <a:t>设计确认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493008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>
                <a:solidFill>
                  <a:srgbClr val="5C695E"/>
                </a:solidFill>
                <a:latin typeface="Microsoft YaHei"/>
              </a:rPr>
              <a:t>确认品牌方向、页面结构、核心文案和内容优先级。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80944" y="2331720"/>
            <a:ext cx="1874519" cy="230428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5536" y="2596896"/>
            <a:ext cx="530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D98C6D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5536" y="3035808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23B2A"/>
                </a:solidFill>
                <a:latin typeface="Microsoft YaHei"/>
              </a:rPr>
              <a:t>内容整理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5536" y="3493008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>
                <a:solidFill>
                  <a:srgbClr val="5C695E"/>
                </a:solidFill>
                <a:latin typeface="Microsoft YaHei"/>
              </a:rPr>
              <a:t>整理服务说明、团队资料、保险口径、食谱与研究文章。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48656" y="2331720"/>
            <a:ext cx="1874519" cy="230428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3248" y="2596896"/>
            <a:ext cx="530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D98C6D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3035808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23B2A"/>
                </a:solidFill>
                <a:latin typeface="Microsoft YaHei"/>
              </a:rPr>
              <a:t>页面制作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3493008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>
                <a:solidFill>
                  <a:srgbClr val="5C695E"/>
                </a:solidFill>
                <a:latin typeface="Microsoft YaHei"/>
              </a:rPr>
              <a:t>完成首页、Program、Recipes、Research、Insurance、Booking、About。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16367" y="2331720"/>
            <a:ext cx="1874519" cy="230428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59" y="2596896"/>
            <a:ext cx="530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D98C6D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59" y="3035808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23B2A"/>
                </a:solidFill>
                <a:latin typeface="Microsoft YaHei"/>
              </a:rPr>
              <a:t>系统接入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59" y="3493008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>
                <a:solidFill>
                  <a:srgbClr val="5C695E"/>
                </a:solidFill>
                <a:latin typeface="Microsoft YaHei"/>
              </a:rPr>
              <a:t>预约表单、CRM、保险核验、邮件通知、分析工具。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2331720"/>
            <a:ext cx="1874519" cy="230428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48672" y="2596896"/>
            <a:ext cx="530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D98C6D"/>
                </a:solidFill>
                <a:latin typeface="Microsoft Ya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3035808"/>
            <a:ext cx="1417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23B2A"/>
                </a:solidFill>
                <a:latin typeface="Microsoft YaHei"/>
              </a:rPr>
              <a:t>上线优化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8672" y="3493008"/>
            <a:ext cx="15087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>
                <a:solidFill>
                  <a:srgbClr val="5C695E"/>
                </a:solidFill>
                <a:latin typeface="Microsoft YaHei"/>
              </a:rPr>
              <a:t>移动端 QA、速度优化、SEO metadata、转化事件追踪。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Microsoft YaHei"/>
              </a:rPr>
              <a:t>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Microsoft YaHei"/>
              </a:rPr>
              <a:t>NutriAll Diabetes Care · Website Design Proposal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Microsoft YaHei"/>
              </a:rPr>
              <a:t>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建议交付范围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5394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Microsoft YaHei"/>
              </a:rPr>
              <a:t>客户一旦确认方向，可以把交付拆成清晰包，便于报价与排期。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03120"/>
            <a:ext cx="51663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2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20">
                <a:solidFill>
                  <a:srgbClr val="163228"/>
                </a:solidFill>
                <a:latin typeface="Microsoft YaHei"/>
              </a:rPr>
              <a:t>完整网站视觉系统：颜色、字体、按钮、Header、Footer、卡片、表单、CTA。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2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20">
                <a:solidFill>
                  <a:srgbClr val="163228"/>
                </a:solidFill>
                <a:latin typeface="Microsoft YaHei"/>
              </a:rPr>
              <a:t>页面设计与响应式实现：首页、Program、Recipes、Recipe Detail、Research、Research Detail、Insurance、Booking、About。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2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20">
                <a:solidFill>
                  <a:srgbClr val="163228"/>
                </a:solidFill>
                <a:latin typeface="Microsoft YaHei"/>
              </a:rPr>
              <a:t>内容结构：服务文案、研究文章模板、菜谱模板、保险说明、FAQ、预约表单字段。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2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20">
                <a:solidFill>
                  <a:srgbClr val="163228"/>
                </a:solidFill>
                <a:latin typeface="Microsoft YaHei"/>
              </a:rPr>
              <a:t>素材系统：NutriAll 原有资产整理、缺失视觉补齐、图片风格统一与压缩优化。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2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20">
                <a:solidFill>
                  <a:srgbClr val="163228"/>
                </a:solidFill>
                <a:latin typeface="Microsoft YaHei"/>
              </a:rPr>
              <a:t>转化与分析：预约提交、保险核验入口、事件追踪、基础 SEO。</a:t>
            </a:r>
          </a:p>
        </p:txBody>
      </p:sp>
      <p:pic>
        <p:nvPicPr>
          <p:cNvPr id="7" name="Picture 6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896112"/>
            <a:ext cx="5020056" cy="247802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914400"/>
            <a:ext cx="4800600" cy="22494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2" y="1060704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Design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28816" y="1078992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38544" y="1078992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48272" y="1078992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t_3178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316736"/>
            <a:ext cx="4654296" cy="1737360"/>
          </a:xfrm>
          <a:prstGeom prst="rect">
            <a:avLst/>
          </a:prstGeom>
        </p:spPr>
      </p:pic>
      <p:pic>
        <p:nvPicPr>
          <p:cNvPr id="14" name="Picture 13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3438144"/>
            <a:ext cx="5020056" cy="21031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400800" y="3456432"/>
            <a:ext cx="48006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3602736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Content Templates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28816" y="3621024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38544" y="3621024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748272" y="3621024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it_8526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3858768"/>
            <a:ext cx="4654296" cy="136245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Microsoft YaHei"/>
              </a:rP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Microsoft YaHei"/>
              </a:rPr>
              <a:t>NutriAll Diabetes Care · Website Design Proposal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Microsoft YaHei"/>
              </a:rPr>
              <a:t>CLIENT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Microsoft YaHei"/>
              </a:rPr>
              <a:t>客户需要确认的事项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5394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Microsoft YaHei"/>
              </a:rPr>
              <a:t>这页用于会议收口：把美术方向讨论转成可执行的业务决策。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84831"/>
            <a:ext cx="5486400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00">
                <a:solidFill>
                  <a:srgbClr val="163228"/>
                </a:solidFill>
                <a:latin typeface="Microsoft YaHei"/>
              </a:rPr>
              <a:t>品牌命名：是否使用 NutriAll Diabetes Care，还是保留更独立的 diabetes brand。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00">
                <a:solidFill>
                  <a:srgbClr val="163228"/>
                </a:solidFill>
                <a:latin typeface="Microsoft YaHei"/>
              </a:rPr>
              <a:t>保险口径：$0 benefits 的准确表达、免责声明、核验流程和适用保险范围。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00">
                <a:solidFill>
                  <a:srgbClr val="163228"/>
                </a:solidFill>
                <a:latin typeface="Microsoft YaHei"/>
              </a:rPr>
              <a:t>预约流程：提交后由谁跟进、是否接入现有 CRM、是否需要自动邮件或短信。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00">
                <a:solidFill>
                  <a:srgbClr val="163228"/>
                </a:solidFill>
                <a:latin typeface="Microsoft YaHei"/>
              </a:rPr>
              <a:t>内容权限：NutriAll 原站食谱、团队合照、Logo 与图片资产是否全部可用于独立站。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Microsoft YaHei"/>
              </a:rPr>
              <a:t>• </a:t>
            </a:r>
            <a:r>
              <a:rPr sz="1300">
                <a:solidFill>
                  <a:srgbClr val="163228"/>
                </a:solidFill>
                <a:latin typeface="Microsoft YaHei"/>
              </a:rPr>
              <a:t>上线节奏：先上线核心转化页，还是同步完成研究库与食谱库。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874519"/>
            <a:ext cx="4462272" cy="2697480"/>
          </a:xfrm>
          <a:prstGeom prst="roundRect">
            <a:avLst/>
          </a:prstGeom>
          <a:solidFill>
            <a:srgbClr val="12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235915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D2FB8D"/>
                </a:solidFill>
                <a:latin typeface="Microsoft YaHei"/>
              </a:rPr>
              <a:t>建议会议目标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2816352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让客户先对“糖尿病独立站的品牌方向与页面结构”点头，再进入报价、开发周期和后端集成讨论。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Microsoft YaHe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Microsoft YaHei"/>
              </a:rPr>
              <a:t>NutriAll Diabetes Care · Website Design Proposal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D2FB8D"/>
                </a:solidFill>
                <a:latin typeface="Microsoft YaHei"/>
              </a:rPr>
              <a:t>NutriAll Diabetes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44752"/>
            <a:ext cx="55778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0">
                <a:solidFill>
                  <a:srgbClr val="FFFFFF"/>
                </a:solidFill>
                <a:latin typeface="Microsoft YaHei"/>
              </a:rPr>
              <a:t>让糖尿病营养管理</a:t>
            </a:r>
          </a:p>
          <a:p>
            <a:pPr algn="l">
              <a:lnSpc>
                <a:spcPct val="95000"/>
              </a:lnSpc>
            </a:pPr>
            <a:r>
              <a:rPr sz="3400" b="0">
                <a:solidFill>
                  <a:srgbClr val="FFFFFF"/>
                </a:solidFill>
                <a:latin typeface="Microsoft YaHei"/>
              </a:rPr>
              <a:t>更容易开始，</a:t>
            </a:r>
          </a:p>
          <a:p>
            <a:pPr algn="l">
              <a:lnSpc>
                <a:spcPct val="95000"/>
              </a:lnSpc>
            </a:pPr>
            <a:r>
              <a:rPr sz="3400" b="0">
                <a:solidFill>
                  <a:srgbClr val="FFFFFF"/>
                </a:solidFill>
                <a:latin typeface="Microsoft YaHei"/>
              </a:rPr>
              <a:t>也更容易坚持。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919472"/>
            <a:ext cx="44348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E4EADF"/>
                </a:solidFill>
                <a:latin typeface="Microsoft YaHei"/>
              </a:rPr>
              <a:t>下一步：确认设计方向与内容范围后，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E4EADF"/>
                </a:solidFill>
                <a:latin typeface="Microsoft YaHei"/>
              </a:rPr>
              <a:t>可进入正式页面设计、内容整理、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E4EADF"/>
                </a:solidFill>
                <a:latin typeface="Microsoft YaHei"/>
              </a:rPr>
              <a:t>预约流程与保险核验系统规划。</a:t>
            </a:r>
          </a:p>
        </p:txBody>
      </p:sp>
      <p:pic>
        <p:nvPicPr>
          <p:cNvPr id="7" name="Picture 6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786384"/>
            <a:ext cx="4974336" cy="27157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55080" y="804672"/>
            <a:ext cx="4754880" cy="24871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950976"/>
            <a:ext cx="4251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Booking Direction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3096" y="969264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92824" y="969264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02552" y="969264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t_857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207008"/>
            <a:ext cx="4608576" cy="1975104"/>
          </a:xfrm>
          <a:prstGeom prst="rect">
            <a:avLst/>
          </a:prstGeom>
        </p:spPr>
      </p:pic>
      <p:pic>
        <p:nvPicPr>
          <p:cNvPr id="14" name="Picture 13" descr="shadow_41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3383280"/>
            <a:ext cx="3968496" cy="189280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858000" y="3401568"/>
            <a:ext cx="3749039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4032" y="3547872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Microsoft YaHei"/>
              </a:rPr>
              <a:t>Research / Recipes / Trust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86016" y="3566160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95744" y="3566160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05472" y="3566160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it_778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3803904"/>
            <a:ext cx="3602735" cy="11521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D2FB8D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